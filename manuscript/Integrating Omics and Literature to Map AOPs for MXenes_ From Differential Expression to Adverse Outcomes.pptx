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5143500" cx="9144000"/>
  <p:notesSz cx="6858000" cy="9144000"/>
  <p:embeddedFontLst>
    <p:embeddedFont>
      <p:font typeface="Raleway"/>
      <p:regular r:id="rId39"/>
      <p:bold r:id="rId40"/>
      <p:italic r:id="rId41"/>
      <p:boldItalic r:id="rId42"/>
    </p:embeddedFont>
    <p:embeddedFont>
      <p:font typeface="Roboto"/>
      <p:regular r:id="rId43"/>
      <p:bold r:id="rId44"/>
      <p:italic r:id="rId45"/>
      <p:boldItalic r:id="rId46"/>
    </p:embeddedFont>
    <p:embeddedFont>
      <p:font typeface="Lato"/>
      <p:regular r:id="rId47"/>
      <p:bold r:id="rId48"/>
      <p:italic r:id="rId49"/>
      <p:boldItalic r:id="rId50"/>
    </p:embeddedFont>
    <p:embeddedFont>
      <p:font typeface="Montserrat"/>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A04C2A-9DD7-4750-A06F-671F7018027B}">
  <a:tblStyle styleId="{BAA04C2A-9DD7-4750-A06F-671F7018027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bold.fntdata"/><Relationship Id="rId42" Type="http://schemas.openxmlformats.org/officeDocument/2006/relationships/font" Target="fonts/Raleway-boldItalic.fntdata"/><Relationship Id="rId41" Type="http://schemas.openxmlformats.org/officeDocument/2006/relationships/font" Target="fonts/Raleway-italic.fntdata"/><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Lato-bold.fntdata"/><Relationship Id="rId47" Type="http://schemas.openxmlformats.org/officeDocument/2006/relationships/font" Target="fonts/Lato-regular.fntdata"/><Relationship Id="rId49" Type="http://schemas.openxmlformats.org/officeDocument/2006/relationships/font" Target="fonts/La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font" Target="fonts/Raleway-regular.fntdata"/><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ontserrat-regular.fntdata"/><Relationship Id="rId50" Type="http://schemas.openxmlformats.org/officeDocument/2006/relationships/font" Target="fonts/Lato-boldItalic.fntdata"/><Relationship Id="rId53" Type="http://schemas.openxmlformats.org/officeDocument/2006/relationships/font" Target="fonts/Montserrat-italic.fntdata"/><Relationship Id="rId52" Type="http://schemas.openxmlformats.org/officeDocument/2006/relationships/font" Target="fonts/Montserrat-bold.fntdata"/><Relationship Id="rId11" Type="http://schemas.openxmlformats.org/officeDocument/2006/relationships/slide" Target="slides/slide5.xml"/><Relationship Id="rId10" Type="http://schemas.openxmlformats.org/officeDocument/2006/relationships/slide" Target="slides/slide4.xml"/><Relationship Id="rId54" Type="http://schemas.openxmlformats.org/officeDocument/2006/relationships/font" Target="fonts/Montserrat-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GB"/>
              <a:t>Hello everyone! I’m Asmaa Ali, a Research Data Scientist at Edelweiss Connect (Switzerland), and I’m delighted to be here on my CompSafeNano secondment. This presentation introduces my early work on MXenes—integrating RNA-seq with the published evidence base to place gene-level changes within the AOP framework and try to highlight mechanisms that may lead to adverse outcomes.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8185ea58e0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8185ea58e0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dk1"/>
                </a:solidFill>
              </a:rPr>
              <a:t>MXenes are a new family of </a:t>
            </a:r>
            <a:r>
              <a:rPr b="1" lang="en-GB">
                <a:solidFill>
                  <a:schemeClr val="dk1"/>
                </a:solidFill>
              </a:rPr>
              <a:t>2D nanomaterials</a:t>
            </a:r>
            <a:r>
              <a:rPr lang="en-GB">
                <a:solidFill>
                  <a:schemeClr val="dk1"/>
                </a:solidFill>
              </a:rPr>
              <a:t> discovered in 2011, with the general formula </a:t>
            </a:r>
            <a:r>
              <a:rPr b="1" lang="en-GB">
                <a:solidFill>
                  <a:schemeClr val="dk1"/>
                </a:solidFill>
              </a:rPr>
              <a:t>Mₙ₊₁XₙTₓ</a:t>
            </a:r>
            <a:r>
              <a:rPr lang="en-GB">
                <a:solidFill>
                  <a:schemeClr val="dk1"/>
                </a:solidFill>
              </a:rPr>
              <a:t>.</a:t>
            </a:r>
            <a:br>
              <a:rPr lang="en-GB">
                <a:solidFill>
                  <a:schemeClr val="dk1"/>
                </a:solidFill>
              </a:rPr>
            </a:br>
            <a:r>
              <a:rPr lang="en-GB">
                <a:solidFill>
                  <a:schemeClr val="dk1"/>
                </a:solidFill>
              </a:rPr>
              <a:t> Here, </a:t>
            </a:r>
            <a:r>
              <a:rPr b="1" lang="en-GB">
                <a:solidFill>
                  <a:schemeClr val="dk1"/>
                </a:solidFill>
              </a:rPr>
              <a:t>M</a:t>
            </a:r>
            <a:r>
              <a:rPr lang="en-GB">
                <a:solidFill>
                  <a:schemeClr val="dk1"/>
                </a:solidFill>
              </a:rPr>
              <a:t> is a transition metal, </a:t>
            </a:r>
            <a:r>
              <a:rPr b="1" lang="en-GB">
                <a:solidFill>
                  <a:schemeClr val="dk1"/>
                </a:solidFill>
              </a:rPr>
              <a:t>X</a:t>
            </a:r>
            <a:r>
              <a:rPr lang="en-GB">
                <a:solidFill>
                  <a:schemeClr val="dk1"/>
                </a:solidFill>
              </a:rPr>
              <a:t> is carbon or nitrogen, and </a:t>
            </a:r>
            <a:r>
              <a:rPr b="1" lang="en-GB">
                <a:solidFill>
                  <a:schemeClr val="dk1"/>
                </a:solidFill>
              </a:rPr>
              <a:t>T</a:t>
            </a:r>
            <a:r>
              <a:rPr lang="en-GB">
                <a:solidFill>
                  <a:schemeClr val="dk1"/>
                </a:solidFill>
              </a:rPr>
              <a:t> are surface terminations like –O, –OH, or –F.</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“In addition to M, X, and T, MXenes also have structural variations.</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The value of </a:t>
            </a:r>
            <a:r>
              <a:rPr b="1" lang="en-GB">
                <a:solidFill>
                  <a:schemeClr val="dk1"/>
                </a:solidFill>
              </a:rPr>
              <a:t>n</a:t>
            </a:r>
            <a:r>
              <a:rPr lang="en-GB">
                <a:solidFill>
                  <a:schemeClr val="dk1"/>
                </a:solidFill>
              </a:rPr>
              <a:t> controls how thick the sheets are. </a:t>
            </a:r>
            <a:r>
              <a:rPr b="1" lang="en-GB">
                <a:solidFill>
                  <a:schemeClr val="dk1"/>
                </a:solidFill>
              </a:rPr>
              <a:t>Stacking</a:t>
            </a:r>
            <a:r>
              <a:rPr lang="en-GB">
                <a:solidFill>
                  <a:schemeClr val="dk1"/>
                </a:solidFill>
              </a:rPr>
              <a:t> refers to how the atomic layers are arranged — either like ABC or ABA — which affects stability and conductivity. And the </a:t>
            </a:r>
            <a:r>
              <a:rPr b="1" lang="en-GB">
                <a:solidFill>
                  <a:schemeClr val="dk1"/>
                </a:solidFill>
              </a:rPr>
              <a:t>T position</a:t>
            </a:r>
            <a:r>
              <a:rPr lang="en-GB">
                <a:solidFill>
                  <a:schemeClr val="dk1"/>
                </a:solidFill>
              </a:rPr>
              <a:t> describes where the surface terminations attach on the MXene surface, which is key to tuning their chemistry for different applications.”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As shown in the periodic table, there are </a:t>
            </a:r>
            <a:r>
              <a:rPr b="1" lang="en-GB">
                <a:solidFill>
                  <a:schemeClr val="dk1"/>
                </a:solidFill>
              </a:rPr>
              <a:t>thousands of possible MXene structures</a:t>
            </a:r>
            <a:r>
              <a:rPr lang="en-GB">
                <a:solidFill>
                  <a:schemeClr val="dk1"/>
                </a:solidFill>
              </a:rPr>
              <a:t>, giving them enormous chemical diversity.</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What makes them exciting is their </a:t>
            </a:r>
            <a:r>
              <a:rPr b="1" lang="en-GB">
                <a:solidFill>
                  <a:schemeClr val="dk1"/>
                </a:solidFill>
              </a:rPr>
              <a:t>unique combination of properties</a:t>
            </a:r>
            <a:r>
              <a:rPr lang="en-GB">
                <a:solidFill>
                  <a:schemeClr val="dk1"/>
                </a:solidFill>
              </a:rPr>
              <a:t>:</a:t>
            </a:r>
            <a:br>
              <a:rPr lang="en-GB">
                <a:solidFill>
                  <a:schemeClr val="dk1"/>
                </a:solidFill>
              </a:rPr>
            </a:br>
            <a:r>
              <a:rPr lang="en-GB">
                <a:solidFill>
                  <a:schemeClr val="dk1"/>
                </a:solidFill>
              </a:rPr>
              <a:t> 💧 They are </a:t>
            </a:r>
            <a:r>
              <a:rPr b="1" lang="en-GB">
                <a:solidFill>
                  <a:schemeClr val="dk1"/>
                </a:solidFill>
              </a:rPr>
              <a:t>hydrophilic</a:t>
            </a:r>
            <a:r>
              <a:rPr lang="en-GB">
                <a:solidFill>
                  <a:schemeClr val="dk1"/>
                </a:solidFill>
              </a:rPr>
              <a:t>,</a:t>
            </a:r>
            <a:br>
              <a:rPr lang="en-GB">
                <a:solidFill>
                  <a:schemeClr val="dk1"/>
                </a:solidFill>
              </a:rPr>
            </a:br>
            <a:r>
              <a:rPr lang="en-GB">
                <a:solidFill>
                  <a:schemeClr val="dk1"/>
                </a:solidFill>
              </a:rPr>
              <a:t> ⚡ </a:t>
            </a:r>
            <a:r>
              <a:rPr b="1" lang="en-GB">
                <a:solidFill>
                  <a:schemeClr val="dk1"/>
                </a:solidFill>
              </a:rPr>
              <a:t>highly conductive</a:t>
            </a:r>
            <a:r>
              <a:rPr lang="en-GB">
                <a:solidFill>
                  <a:schemeClr val="dk1"/>
                </a:solidFill>
              </a:rPr>
              <a:t>,</a:t>
            </a:r>
            <a:br>
              <a:rPr lang="en-GB">
                <a:solidFill>
                  <a:schemeClr val="dk1"/>
                </a:solidFill>
              </a:rPr>
            </a:br>
            <a:r>
              <a:rPr lang="en-GB">
                <a:solidFill>
                  <a:schemeClr val="dk1"/>
                </a:solidFill>
              </a:rPr>
              <a:t> 🔧 and have </a:t>
            </a:r>
            <a:r>
              <a:rPr b="1" lang="en-GB">
                <a:solidFill>
                  <a:schemeClr val="dk1"/>
                </a:solidFill>
              </a:rPr>
              <a:t>tunable surface chemistry</a:t>
            </a:r>
            <a:r>
              <a:rPr lang="en-GB">
                <a:solidFill>
                  <a:schemeClr val="dk1"/>
                </a:solidFill>
              </a:rPr>
              <a:t>.</a:t>
            </a:r>
            <a:endParaRPr>
              <a:solidFill>
                <a:schemeClr val="dk1"/>
              </a:solidFill>
            </a:endParaRPr>
          </a:p>
          <a:p>
            <a:pPr indent="0" lvl="0" marL="0" rtl="0" algn="l">
              <a:lnSpc>
                <a:spcPct val="115000"/>
              </a:lnSpc>
              <a:spcBef>
                <a:spcPts val="1200"/>
              </a:spcBef>
              <a:spcAft>
                <a:spcPts val="1200"/>
              </a:spcAft>
              <a:buNone/>
            </a:pPr>
            <a:r>
              <a:rPr lang="en-GB">
                <a:solidFill>
                  <a:schemeClr val="dk1"/>
                </a:solidFill>
              </a:rPr>
              <a:t>This makes MXenes ideal for applications in </a:t>
            </a:r>
            <a:r>
              <a:rPr b="1" lang="en-GB">
                <a:solidFill>
                  <a:schemeClr val="dk1"/>
                </a:solidFill>
              </a:rPr>
              <a:t>energy, electronics, sensors, and biomedicine</a:t>
            </a:r>
            <a:r>
              <a:rPr lang="en-GB">
                <a:solidFill>
                  <a:schemeClr val="dk1"/>
                </a:solidFill>
              </a:rPr>
              <a:t> — and that’s why I chose to focus my research on them.</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80f3dfd0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80f3dfd0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Now—why focus on MXenes? Their </a:t>
            </a:r>
            <a:r>
              <a:rPr b="1" lang="en-GB">
                <a:solidFill>
                  <a:schemeClr val="dk1"/>
                </a:solidFill>
              </a:rPr>
              <a:t>structural variability</a:t>
            </a:r>
            <a:r>
              <a:rPr lang="en-GB">
                <a:solidFill>
                  <a:schemeClr val="dk1"/>
                </a:solidFill>
              </a:rPr>
              <a:t> (metal, layer number, terminations) makes their </a:t>
            </a:r>
            <a:r>
              <a:rPr b="1" lang="en-GB">
                <a:solidFill>
                  <a:schemeClr val="dk1"/>
                </a:solidFill>
              </a:rPr>
              <a:t>chemistry highly tunable</a:t>
            </a:r>
            <a:r>
              <a:rPr lang="en-GB">
                <a:solidFill>
                  <a:schemeClr val="dk1"/>
                </a:solidFill>
              </a:rPr>
              <a:t>, which can translate into </a:t>
            </a:r>
            <a:r>
              <a:rPr b="1" lang="en-GB">
                <a:solidFill>
                  <a:schemeClr val="dk1"/>
                </a:solidFill>
              </a:rPr>
              <a:t>diverse biological effects</a:t>
            </a:r>
            <a:r>
              <a:rPr lang="en-GB">
                <a:solidFill>
                  <a:schemeClr val="dk1"/>
                </a:solidFill>
              </a:rPr>
              <a:t>. At the same time, MXenes are moving rapidly into real applications, increasing the likelihood of </a:t>
            </a:r>
            <a:r>
              <a:rPr b="1" lang="en-GB">
                <a:solidFill>
                  <a:schemeClr val="dk1"/>
                </a:solidFill>
              </a:rPr>
              <a:t>human and environmental exposure</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With a bridge to your methods</a:t>
            </a:r>
            <a:br>
              <a:rPr b="1" lang="en-GB">
                <a:solidFill>
                  <a:schemeClr val="dk1"/>
                </a:solidFill>
              </a:rPr>
            </a:br>
            <a:r>
              <a:rPr lang="en-GB">
                <a:solidFill>
                  <a:schemeClr val="dk1"/>
                </a:solidFill>
              </a:rPr>
              <a:t> Because of this variability and growing use, we need </a:t>
            </a:r>
            <a:r>
              <a:rPr b="1" lang="en-GB">
                <a:solidFill>
                  <a:schemeClr val="dk1"/>
                </a:solidFill>
              </a:rPr>
              <a:t>mechanism-aware assessment</a:t>
            </a:r>
            <a:r>
              <a:rPr lang="en-GB">
                <a:solidFill>
                  <a:schemeClr val="dk1"/>
                </a:solidFill>
              </a:rPr>
              <a:t>—hence mapping RNA-seq signals into </a:t>
            </a:r>
            <a:r>
              <a:rPr b="1" lang="en-GB">
                <a:solidFill>
                  <a:schemeClr val="dk1"/>
                </a:solidFill>
              </a:rPr>
              <a:t>AOPs</a:t>
            </a:r>
            <a:r>
              <a:rPr lang="en-GB">
                <a:solidFill>
                  <a:schemeClr val="dk1"/>
                </a:solidFill>
              </a:rPr>
              <a:t> to see which pathways and outcomes are plausibly engaged.</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185ea58e0_0_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8185ea58e0_0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Add problem formulation before this slide</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=&gt; Breakdown of the main GEO accession prefixes: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GSE</a:t>
            </a:r>
            <a:r>
              <a:rPr lang="en-GB">
                <a:solidFill>
                  <a:schemeClr val="dk1"/>
                </a:solidFill>
              </a:rPr>
              <a:t> → </a:t>
            </a:r>
            <a:r>
              <a:rPr b="1" lang="en-GB">
                <a:solidFill>
                  <a:schemeClr val="dk1"/>
                </a:solidFill>
              </a:rPr>
              <a:t>GEO Series</a:t>
            </a:r>
            <a:br>
              <a:rPr b="1" lang="en-GB">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A </a:t>
            </a:r>
            <a:r>
              <a:rPr b="1" lang="en-GB">
                <a:solidFill>
                  <a:schemeClr val="dk1"/>
                </a:solidFill>
              </a:rPr>
              <a:t>series</a:t>
            </a:r>
            <a:r>
              <a:rPr lang="en-GB">
                <a:solidFill>
                  <a:schemeClr val="dk1"/>
                </a:solidFill>
              </a:rPr>
              <a:t> represents a complete experiment or study, often consisting of multiple samples.</a:t>
            </a:r>
            <a:br>
              <a:rPr lang="en-GB">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Example: </a:t>
            </a:r>
            <a:r>
              <a:rPr b="1" lang="en-GB">
                <a:solidFill>
                  <a:schemeClr val="dk1"/>
                </a:solidFill>
              </a:rPr>
              <a:t>GSE12345</a:t>
            </a:r>
            <a:br>
              <a:rPr b="1" lang="en-GB">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 links together several </a:t>
            </a:r>
            <a:r>
              <a:rPr b="1" lang="en-GB">
                <a:solidFill>
                  <a:schemeClr val="dk1"/>
                </a:solidFill>
              </a:rPr>
              <a:t>GSM (Sample)</a:t>
            </a:r>
            <a:r>
              <a:rPr lang="en-GB">
                <a:solidFill>
                  <a:schemeClr val="dk1"/>
                </a:solidFill>
              </a:rPr>
              <a:t> records and describes the overall experimental design and context.</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GSM</a:t>
            </a:r>
            <a:r>
              <a:rPr lang="en-GB">
                <a:solidFill>
                  <a:schemeClr val="dk1"/>
                </a:solidFill>
              </a:rPr>
              <a:t> → </a:t>
            </a:r>
            <a:r>
              <a:rPr b="1" lang="en-GB">
                <a:solidFill>
                  <a:schemeClr val="dk1"/>
                </a:solidFill>
              </a:rPr>
              <a:t>GEO Sample</a:t>
            </a:r>
            <a:br>
              <a:rPr b="1" lang="en-GB">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A </a:t>
            </a:r>
            <a:r>
              <a:rPr b="1" lang="en-GB">
                <a:solidFill>
                  <a:schemeClr val="dk1"/>
                </a:solidFill>
              </a:rPr>
              <a:t>sample</a:t>
            </a:r>
            <a:r>
              <a:rPr lang="en-GB">
                <a:solidFill>
                  <a:schemeClr val="dk1"/>
                </a:solidFill>
              </a:rPr>
              <a:t> corresponds to a single experimental unit (e.g., one RNA-seq or microarray sample).</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GPL</a:t>
            </a:r>
            <a:r>
              <a:rPr lang="en-GB">
                <a:solidFill>
                  <a:schemeClr val="dk1"/>
                </a:solidFill>
              </a:rPr>
              <a:t> → </a:t>
            </a:r>
            <a:r>
              <a:rPr b="1" lang="en-GB">
                <a:solidFill>
                  <a:schemeClr val="dk1"/>
                </a:solidFill>
              </a:rPr>
              <a:t>GEO Platform</a:t>
            </a:r>
            <a:br>
              <a:rPr b="1" lang="en-GB">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A </a:t>
            </a:r>
            <a:r>
              <a:rPr b="1" lang="en-GB">
                <a:solidFill>
                  <a:schemeClr val="dk1"/>
                </a:solidFill>
              </a:rPr>
              <a:t>platform</a:t>
            </a:r>
            <a:r>
              <a:rPr lang="en-GB">
                <a:solidFill>
                  <a:schemeClr val="dk1"/>
                </a:solidFill>
              </a:rPr>
              <a:t> represents the technology or array used (e.g., Affymetrix, Illumina).</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GDS</a:t>
            </a:r>
            <a:r>
              <a:rPr lang="en-GB">
                <a:solidFill>
                  <a:schemeClr val="dk1"/>
                </a:solidFill>
              </a:rPr>
              <a:t> → </a:t>
            </a:r>
            <a:r>
              <a:rPr b="1" lang="en-GB">
                <a:solidFill>
                  <a:schemeClr val="dk1"/>
                </a:solidFill>
              </a:rPr>
              <a:t>GEO DataSet</a:t>
            </a:r>
            <a:br>
              <a:rPr b="1" lang="en-GB">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A </a:t>
            </a:r>
            <a:r>
              <a:rPr b="1" lang="en-GB">
                <a:solidFill>
                  <a:schemeClr val="dk1"/>
                </a:solidFill>
              </a:rPr>
              <a:t>data set</a:t>
            </a:r>
            <a:r>
              <a:rPr lang="en-GB">
                <a:solidFill>
                  <a:schemeClr val="dk1"/>
                </a:solidFill>
              </a:rPr>
              <a:t> is a curated collection derived from one or more series, processed for easier comparison and analysis.</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Example relationship:</a:t>
            </a:r>
            <a:br>
              <a:rPr b="1" lang="en-GB">
                <a:solidFill>
                  <a:schemeClr val="dk1"/>
                </a:solidFill>
              </a:rPr>
            </a:br>
            <a:r>
              <a:rPr lang="en-GB">
                <a:solidFill>
                  <a:schemeClr val="dk1"/>
                </a:solidFill>
              </a:rPr>
              <a:t>A </a:t>
            </a:r>
            <a:r>
              <a:rPr b="1" lang="en-GB">
                <a:solidFill>
                  <a:schemeClr val="dk1"/>
                </a:solidFill>
              </a:rPr>
              <a:t>GSE</a:t>
            </a:r>
            <a:r>
              <a:rPr lang="en-GB">
                <a:solidFill>
                  <a:schemeClr val="dk1"/>
                </a:solidFill>
              </a:rPr>
              <a:t> (series) contains multiple </a:t>
            </a:r>
            <a:r>
              <a:rPr b="1" lang="en-GB">
                <a:solidFill>
                  <a:schemeClr val="dk1"/>
                </a:solidFill>
              </a:rPr>
              <a:t>GSMs</a:t>
            </a:r>
            <a:r>
              <a:rPr lang="en-GB">
                <a:solidFill>
                  <a:schemeClr val="dk1"/>
                </a:solidFill>
              </a:rPr>
              <a:t> (samples), all measured on one or more </a:t>
            </a:r>
            <a:r>
              <a:rPr b="1" lang="en-GB">
                <a:solidFill>
                  <a:schemeClr val="dk1"/>
                </a:solidFill>
              </a:rPr>
              <a:t>GPLs</a:t>
            </a:r>
            <a:r>
              <a:rPr lang="en-GB">
                <a:solidFill>
                  <a:schemeClr val="dk1"/>
                </a:solidFill>
              </a:rPr>
              <a:t> (platforms), and may later become part of a curated </a:t>
            </a:r>
            <a:r>
              <a:rPr b="1" lang="en-GB">
                <a:solidFill>
                  <a:schemeClr val="dk1"/>
                </a:solidFill>
              </a:rPr>
              <a:t>GDS</a:t>
            </a:r>
            <a:r>
              <a:rPr lang="en-GB">
                <a:solidFill>
                  <a:schemeClr val="dk1"/>
                </a:solidFill>
              </a:rPr>
              <a:t> (dataset).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8185ea58e0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8185ea58e0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8185ea58e0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8185ea58e0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Cross-species -&gt; KGs + toxicogenomics + biological pathways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8185ea58e0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8185ea58e0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8185ea58e0_0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8185ea58e0_0_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84a6a22bd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84a6a22bd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Urgan porlak</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84a6a22bd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84a6a22bd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 vitro data can be used for PoD but not for drawing mechanistic insights</a:t>
            </a:r>
            <a:endParaRPr/>
          </a:p>
          <a:p>
            <a:pPr indent="0" lvl="0" marL="0" rtl="0" algn="l">
              <a:spcBef>
                <a:spcPts val="0"/>
              </a:spcBef>
              <a:spcAft>
                <a:spcPts val="0"/>
              </a:spcAft>
              <a:buNone/>
            </a:pPr>
            <a:r>
              <a:rPr lang="en-GB"/>
              <a:t>Study in the 2D dim is diff from 3D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84a6a22bd3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84a6a22bd3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84a6a22bd3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84a6a22bd3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84a6a22bd3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84a6a22bd3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84aee1449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84aee1449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665e36d06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665e36d06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84aee1449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84aee1449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665e36d06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665e36d06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6665e487e5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6665e487e5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6665e487e5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6665e487e5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6665e487e5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6665e487e5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665e36d06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665e36d06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6665e487e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6665e487e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6665e487e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6665e487e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6665e487e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6665e487e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6665e487e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6665e487e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6665e487e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6665e487e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6665e487e5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6665e487e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666b498c8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666b498c8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666b498c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666b498c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b04829b7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b04829b7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6665e487e5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6665e487e5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6665e487e5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6665e487e5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5" name="Shape 15"/>
        <p:cNvGrpSpPr/>
        <p:nvPr/>
      </p:nvGrpSpPr>
      <p:grpSpPr>
        <a:xfrm>
          <a:off x="0" y="0"/>
          <a:ext cx="0" cy="0"/>
          <a:chOff x="0" y="0"/>
          <a:chExt cx="0" cy="0"/>
        </a:xfrm>
      </p:grpSpPr>
      <p:sp>
        <p:nvSpPr>
          <p:cNvPr id="16" name="Google Shape;16;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 name="Google Shape;17;p2"/>
          <p:cNvGrpSpPr/>
          <p:nvPr/>
        </p:nvGrpSpPr>
        <p:grpSpPr>
          <a:xfrm>
            <a:off x="830392" y="1191256"/>
            <a:ext cx="745763" cy="45826"/>
            <a:chOff x="4580561" y="2589004"/>
            <a:chExt cx="1064464" cy="25200"/>
          </a:xfrm>
        </p:grpSpPr>
        <p:sp>
          <p:nvSpPr>
            <p:cNvPr id="18" name="Google Shape;18;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 name="Google Shape;20;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21" name="Google Shape;21;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22" name="Google Shape;22;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23" name="Google Shape;23;p2"/>
          <p:cNvSpPr txBox="1"/>
          <p:nvPr/>
        </p:nvSpPr>
        <p:spPr>
          <a:xfrm>
            <a:off x="7545921" y="123070"/>
            <a:ext cx="871800" cy="241800"/>
          </a:xfrm>
          <a:prstGeom prst="rect">
            <a:avLst/>
          </a:prstGeom>
          <a:noFill/>
          <a:ln>
            <a:noFill/>
          </a:ln>
        </p:spPr>
        <p:txBody>
          <a:bodyPr anchorCtr="0" anchor="t" bIns="17900" lIns="35800" spcFirstLastPara="1" rIns="35800" wrap="square" tIns="17900">
            <a:spAutoFit/>
          </a:bodyPr>
          <a:lstStyle/>
          <a:p>
            <a:pPr indent="0" lvl="0" marL="0" marR="0" rtl="0" algn="l">
              <a:lnSpc>
                <a:spcPct val="103333"/>
              </a:lnSpc>
              <a:spcBef>
                <a:spcPts val="0"/>
              </a:spcBef>
              <a:spcAft>
                <a:spcPts val="235"/>
              </a:spcAft>
              <a:buClr>
                <a:srgbClr val="000000"/>
              </a:buClr>
              <a:buSzPts val="404"/>
              <a:buFont typeface="Arial"/>
              <a:buNone/>
            </a:pPr>
            <a:r>
              <a:rPr b="0" i="1" lang="en-GB" sz="326" u="none" cap="none" strike="noStrike">
                <a:solidFill>
                  <a:srgbClr val="4573CE"/>
                </a:solidFill>
                <a:latin typeface="Calibri"/>
                <a:ea typeface="Calibri"/>
                <a:cs typeface="Calibri"/>
                <a:sym typeface="Calibri"/>
              </a:rPr>
              <a:t>This project has received funding from the European Union’s Horizon 2020 research and innovation programme under grant agreement No </a:t>
            </a:r>
            <a:r>
              <a:rPr b="1" i="1" lang="en-GB" sz="326" u="none" cap="none" strike="noStrike">
                <a:solidFill>
                  <a:srgbClr val="4573CE"/>
                </a:solidFill>
                <a:latin typeface="Calibri"/>
                <a:ea typeface="Calibri"/>
                <a:cs typeface="Calibri"/>
                <a:sym typeface="Calibri"/>
              </a:rPr>
              <a:t>101008099</a:t>
            </a:r>
            <a:endParaRPr b="1" i="0" sz="391" u="none" cap="none" strike="noStrike">
              <a:solidFill>
                <a:srgbClr val="4573CE"/>
              </a:solidFill>
              <a:latin typeface="Calibri"/>
              <a:ea typeface="Calibri"/>
              <a:cs typeface="Calibri"/>
              <a:sym typeface="Calibri"/>
            </a:endParaRPr>
          </a:p>
        </p:txBody>
      </p:sp>
      <p:pic>
        <p:nvPicPr>
          <p:cNvPr id="24" name="Google Shape;24;p2"/>
          <p:cNvPicPr preferRelativeResize="0"/>
          <p:nvPr/>
        </p:nvPicPr>
        <p:blipFill rotWithShape="1">
          <a:blip r:embed="rId2">
            <a:alphaModFix/>
          </a:blip>
          <a:srcRect b="0" l="0" r="0" t="0"/>
          <a:stretch/>
        </p:blipFill>
        <p:spPr>
          <a:xfrm>
            <a:off x="7149977" y="120987"/>
            <a:ext cx="353367" cy="245820"/>
          </a:xfrm>
          <a:prstGeom prst="rect">
            <a:avLst/>
          </a:prstGeom>
          <a:noFill/>
          <a:ln>
            <a:noFill/>
          </a:ln>
        </p:spPr>
      </p:pic>
      <p:pic>
        <p:nvPicPr>
          <p:cNvPr descr="A black and white logo&#10;&#10;Description automatically generated" id="25" name="Google Shape;25;p2"/>
          <p:cNvPicPr preferRelativeResize="0"/>
          <p:nvPr/>
        </p:nvPicPr>
        <p:blipFill rotWithShape="1">
          <a:blip r:embed="rId3">
            <a:alphaModFix/>
          </a:blip>
          <a:srcRect b="0" l="0" r="0" t="0"/>
          <a:stretch/>
        </p:blipFill>
        <p:spPr>
          <a:xfrm>
            <a:off x="4833694" y="120987"/>
            <a:ext cx="1013952" cy="245825"/>
          </a:xfrm>
          <a:prstGeom prst="rect">
            <a:avLst/>
          </a:prstGeom>
          <a:noFill/>
          <a:ln>
            <a:noFill/>
          </a:ln>
        </p:spPr>
      </p:pic>
      <p:pic>
        <p:nvPicPr>
          <p:cNvPr id="26" name="Google Shape;26;p2"/>
          <p:cNvPicPr preferRelativeResize="0"/>
          <p:nvPr/>
        </p:nvPicPr>
        <p:blipFill>
          <a:blip r:embed="rId4">
            <a:alphaModFix/>
          </a:blip>
          <a:stretch>
            <a:fillRect/>
          </a:stretch>
        </p:blipFill>
        <p:spPr>
          <a:xfrm>
            <a:off x="830400" y="141388"/>
            <a:ext cx="193319" cy="205016"/>
          </a:xfrm>
          <a:prstGeom prst="rect">
            <a:avLst/>
          </a:prstGeom>
          <a:noFill/>
          <a:ln>
            <a:noFill/>
          </a:ln>
        </p:spPr>
      </p:pic>
      <p:pic>
        <p:nvPicPr>
          <p:cNvPr id="27" name="Google Shape;27;p2"/>
          <p:cNvPicPr preferRelativeResize="0"/>
          <p:nvPr/>
        </p:nvPicPr>
        <p:blipFill>
          <a:blip r:embed="rId5">
            <a:alphaModFix/>
          </a:blip>
          <a:stretch>
            <a:fillRect/>
          </a:stretch>
        </p:blipFill>
        <p:spPr>
          <a:xfrm>
            <a:off x="1061356" y="169238"/>
            <a:ext cx="395095" cy="149320"/>
          </a:xfrm>
          <a:prstGeom prst="rect">
            <a:avLst/>
          </a:prstGeom>
          <a:noFill/>
          <a:ln>
            <a:noFill/>
          </a:ln>
        </p:spPr>
      </p:pic>
      <p:pic>
        <p:nvPicPr>
          <p:cNvPr id="28" name="Google Shape;28;p2"/>
          <p:cNvPicPr preferRelativeResize="0"/>
          <p:nvPr/>
        </p:nvPicPr>
        <p:blipFill>
          <a:blip r:embed="rId6">
            <a:alphaModFix/>
          </a:blip>
          <a:stretch>
            <a:fillRect/>
          </a:stretch>
        </p:blipFill>
        <p:spPr>
          <a:xfrm>
            <a:off x="2695663" y="68622"/>
            <a:ext cx="898826" cy="35054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9" name="Shape 29"/>
        <p:cNvGrpSpPr/>
        <p:nvPr/>
      </p:nvGrpSpPr>
      <p:grpSpPr>
        <a:xfrm>
          <a:off x="0" y="0"/>
          <a:ext cx="0" cy="0"/>
          <a:chOff x="0" y="0"/>
          <a:chExt cx="0" cy="0"/>
        </a:xfrm>
      </p:grpSpPr>
      <p:grpSp>
        <p:nvGrpSpPr>
          <p:cNvPr id="30" name="Google Shape;30;p3"/>
          <p:cNvGrpSpPr/>
          <p:nvPr/>
        </p:nvGrpSpPr>
        <p:grpSpPr>
          <a:xfrm>
            <a:off x="830392" y="1191256"/>
            <a:ext cx="745763" cy="45826"/>
            <a:chOff x="4580561" y="2589004"/>
            <a:chExt cx="1064464" cy="25200"/>
          </a:xfrm>
        </p:grpSpPr>
        <p:sp>
          <p:nvSpPr>
            <p:cNvPr id="31" name="Google Shape;31;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 name="Google Shape;33;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34" name="Google Shape;34;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5" name="Shape 35"/>
        <p:cNvGrpSpPr/>
        <p:nvPr/>
      </p:nvGrpSpPr>
      <p:grpSpPr>
        <a:xfrm>
          <a:off x="0" y="0"/>
          <a:ext cx="0" cy="0"/>
          <a:chOff x="0" y="0"/>
          <a:chExt cx="0" cy="0"/>
        </a:xfrm>
      </p:grpSpPr>
      <p:sp>
        <p:nvSpPr>
          <p:cNvPr id="36" name="Google Shape;36;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4"/>
          <p:cNvGrpSpPr/>
          <p:nvPr/>
        </p:nvGrpSpPr>
        <p:grpSpPr>
          <a:xfrm>
            <a:off x="830392" y="1191256"/>
            <a:ext cx="745763" cy="45826"/>
            <a:chOff x="4580561" y="2589004"/>
            <a:chExt cx="1064464" cy="25200"/>
          </a:xfrm>
        </p:grpSpPr>
        <p:sp>
          <p:nvSpPr>
            <p:cNvPr id="38" name="Google Shape;38;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1" name="Google Shape;41;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2" name="Google Shape;42;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43" name="Google Shape;43;p4"/>
          <p:cNvSpPr txBox="1"/>
          <p:nvPr/>
        </p:nvSpPr>
        <p:spPr>
          <a:xfrm>
            <a:off x="7545921" y="123070"/>
            <a:ext cx="871800" cy="241800"/>
          </a:xfrm>
          <a:prstGeom prst="rect">
            <a:avLst/>
          </a:prstGeom>
          <a:noFill/>
          <a:ln>
            <a:noFill/>
          </a:ln>
        </p:spPr>
        <p:txBody>
          <a:bodyPr anchorCtr="0" anchor="t" bIns="17900" lIns="35800" spcFirstLastPara="1" rIns="35800" wrap="square" tIns="17900">
            <a:spAutoFit/>
          </a:bodyPr>
          <a:lstStyle/>
          <a:p>
            <a:pPr indent="0" lvl="0" marL="0" marR="0" rtl="0" algn="l">
              <a:lnSpc>
                <a:spcPct val="103333"/>
              </a:lnSpc>
              <a:spcBef>
                <a:spcPts val="0"/>
              </a:spcBef>
              <a:spcAft>
                <a:spcPts val="235"/>
              </a:spcAft>
              <a:buClr>
                <a:srgbClr val="000000"/>
              </a:buClr>
              <a:buSzPts val="404"/>
              <a:buFont typeface="Arial"/>
              <a:buNone/>
            </a:pPr>
            <a:r>
              <a:rPr b="0" i="1" lang="en-GB" sz="326" u="none" cap="none" strike="noStrike">
                <a:solidFill>
                  <a:srgbClr val="4573CE"/>
                </a:solidFill>
                <a:latin typeface="Calibri"/>
                <a:ea typeface="Calibri"/>
                <a:cs typeface="Calibri"/>
                <a:sym typeface="Calibri"/>
              </a:rPr>
              <a:t>This project has received funding from the European Union’s Horizon 2020 research and innovation programme under grant agreement No </a:t>
            </a:r>
            <a:r>
              <a:rPr b="1" i="1" lang="en-GB" sz="326" u="none" cap="none" strike="noStrike">
                <a:solidFill>
                  <a:srgbClr val="4573CE"/>
                </a:solidFill>
                <a:latin typeface="Calibri"/>
                <a:ea typeface="Calibri"/>
                <a:cs typeface="Calibri"/>
                <a:sym typeface="Calibri"/>
              </a:rPr>
              <a:t>101008099</a:t>
            </a:r>
            <a:endParaRPr b="1" i="0" sz="391" u="none" cap="none" strike="noStrike">
              <a:solidFill>
                <a:srgbClr val="4573CE"/>
              </a:solidFill>
              <a:latin typeface="Calibri"/>
              <a:ea typeface="Calibri"/>
              <a:cs typeface="Calibri"/>
              <a:sym typeface="Calibri"/>
            </a:endParaRPr>
          </a:p>
        </p:txBody>
      </p:sp>
      <p:pic>
        <p:nvPicPr>
          <p:cNvPr id="44" name="Google Shape;44;p4"/>
          <p:cNvPicPr preferRelativeResize="0"/>
          <p:nvPr/>
        </p:nvPicPr>
        <p:blipFill rotWithShape="1">
          <a:blip r:embed="rId2">
            <a:alphaModFix/>
          </a:blip>
          <a:srcRect b="0" l="0" r="0" t="0"/>
          <a:stretch/>
        </p:blipFill>
        <p:spPr>
          <a:xfrm>
            <a:off x="7149977" y="120987"/>
            <a:ext cx="353367" cy="245820"/>
          </a:xfrm>
          <a:prstGeom prst="rect">
            <a:avLst/>
          </a:prstGeom>
          <a:noFill/>
          <a:ln>
            <a:noFill/>
          </a:ln>
        </p:spPr>
      </p:pic>
      <p:pic>
        <p:nvPicPr>
          <p:cNvPr descr="A black and white logo&#10;&#10;Description automatically generated" id="45" name="Google Shape;45;p4"/>
          <p:cNvPicPr preferRelativeResize="0"/>
          <p:nvPr/>
        </p:nvPicPr>
        <p:blipFill rotWithShape="1">
          <a:blip r:embed="rId3">
            <a:alphaModFix/>
          </a:blip>
          <a:srcRect b="0" l="0" r="0" t="0"/>
          <a:stretch/>
        </p:blipFill>
        <p:spPr>
          <a:xfrm>
            <a:off x="4833694" y="120987"/>
            <a:ext cx="1013952" cy="245825"/>
          </a:xfrm>
          <a:prstGeom prst="rect">
            <a:avLst/>
          </a:prstGeom>
          <a:noFill/>
          <a:ln>
            <a:noFill/>
          </a:ln>
        </p:spPr>
      </p:pic>
      <p:pic>
        <p:nvPicPr>
          <p:cNvPr id="46" name="Google Shape;46;p4"/>
          <p:cNvPicPr preferRelativeResize="0"/>
          <p:nvPr/>
        </p:nvPicPr>
        <p:blipFill>
          <a:blip r:embed="rId4">
            <a:alphaModFix/>
          </a:blip>
          <a:stretch>
            <a:fillRect/>
          </a:stretch>
        </p:blipFill>
        <p:spPr>
          <a:xfrm>
            <a:off x="830400" y="141388"/>
            <a:ext cx="193319" cy="205016"/>
          </a:xfrm>
          <a:prstGeom prst="rect">
            <a:avLst/>
          </a:prstGeom>
          <a:noFill/>
          <a:ln>
            <a:noFill/>
          </a:ln>
        </p:spPr>
      </p:pic>
      <p:pic>
        <p:nvPicPr>
          <p:cNvPr id="47" name="Google Shape;47;p4"/>
          <p:cNvPicPr preferRelativeResize="0"/>
          <p:nvPr/>
        </p:nvPicPr>
        <p:blipFill>
          <a:blip r:embed="rId5">
            <a:alphaModFix/>
          </a:blip>
          <a:stretch>
            <a:fillRect/>
          </a:stretch>
        </p:blipFill>
        <p:spPr>
          <a:xfrm>
            <a:off x="1061356" y="169238"/>
            <a:ext cx="395095" cy="149320"/>
          </a:xfrm>
          <a:prstGeom prst="rect">
            <a:avLst/>
          </a:prstGeom>
          <a:noFill/>
          <a:ln>
            <a:noFill/>
          </a:ln>
        </p:spPr>
      </p:pic>
      <p:pic>
        <p:nvPicPr>
          <p:cNvPr id="48" name="Google Shape;48;p4"/>
          <p:cNvPicPr preferRelativeResize="0"/>
          <p:nvPr/>
        </p:nvPicPr>
        <p:blipFill>
          <a:blip r:embed="rId6">
            <a:alphaModFix/>
          </a:blip>
          <a:stretch>
            <a:fillRect/>
          </a:stretch>
        </p:blipFill>
        <p:spPr>
          <a:xfrm>
            <a:off x="2695663" y="68622"/>
            <a:ext cx="898826" cy="35054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 name="Shape 49"/>
        <p:cNvGrpSpPr/>
        <p:nvPr/>
      </p:nvGrpSpPr>
      <p:grpSpPr>
        <a:xfrm>
          <a:off x="0" y="0"/>
          <a:ext cx="0" cy="0"/>
          <a:chOff x="0" y="0"/>
          <a:chExt cx="0" cy="0"/>
        </a:xfrm>
      </p:grpSpPr>
      <p:sp>
        <p:nvSpPr>
          <p:cNvPr id="50" name="Google Shape;50;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 name="Google Shape;51;p5"/>
          <p:cNvGrpSpPr/>
          <p:nvPr/>
        </p:nvGrpSpPr>
        <p:grpSpPr>
          <a:xfrm>
            <a:off x="830392" y="1191256"/>
            <a:ext cx="745763" cy="45826"/>
            <a:chOff x="4580561" y="2589004"/>
            <a:chExt cx="1064464" cy="25200"/>
          </a:xfrm>
        </p:grpSpPr>
        <p:sp>
          <p:nvSpPr>
            <p:cNvPr id="52" name="Google Shape;52;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 name="Google Shape;54;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5" name="Google Shape;55;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6" name="Google Shape;56;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7" name="Google Shape;57;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58" name="Google Shape;58;p5"/>
          <p:cNvSpPr txBox="1"/>
          <p:nvPr/>
        </p:nvSpPr>
        <p:spPr>
          <a:xfrm>
            <a:off x="7545921" y="123070"/>
            <a:ext cx="871800" cy="241800"/>
          </a:xfrm>
          <a:prstGeom prst="rect">
            <a:avLst/>
          </a:prstGeom>
          <a:noFill/>
          <a:ln>
            <a:noFill/>
          </a:ln>
        </p:spPr>
        <p:txBody>
          <a:bodyPr anchorCtr="0" anchor="t" bIns="17900" lIns="35800" spcFirstLastPara="1" rIns="35800" wrap="square" tIns="17900">
            <a:spAutoFit/>
          </a:bodyPr>
          <a:lstStyle/>
          <a:p>
            <a:pPr indent="0" lvl="0" marL="0" marR="0" rtl="0" algn="l">
              <a:lnSpc>
                <a:spcPct val="103333"/>
              </a:lnSpc>
              <a:spcBef>
                <a:spcPts val="0"/>
              </a:spcBef>
              <a:spcAft>
                <a:spcPts val="235"/>
              </a:spcAft>
              <a:buClr>
                <a:srgbClr val="000000"/>
              </a:buClr>
              <a:buSzPts val="404"/>
              <a:buFont typeface="Arial"/>
              <a:buNone/>
            </a:pPr>
            <a:r>
              <a:rPr b="0" i="1" lang="en-GB" sz="326" u="none" cap="none" strike="noStrike">
                <a:solidFill>
                  <a:srgbClr val="4573CE"/>
                </a:solidFill>
                <a:latin typeface="Calibri"/>
                <a:ea typeface="Calibri"/>
                <a:cs typeface="Calibri"/>
                <a:sym typeface="Calibri"/>
              </a:rPr>
              <a:t>This project has received funding from the European Union’s Horizon 2020 research and innovation programme under grant agreement No </a:t>
            </a:r>
            <a:r>
              <a:rPr b="1" i="1" lang="en-GB" sz="326" u="none" cap="none" strike="noStrike">
                <a:solidFill>
                  <a:srgbClr val="4573CE"/>
                </a:solidFill>
                <a:latin typeface="Calibri"/>
                <a:ea typeface="Calibri"/>
                <a:cs typeface="Calibri"/>
                <a:sym typeface="Calibri"/>
              </a:rPr>
              <a:t>101008099</a:t>
            </a:r>
            <a:endParaRPr b="1" i="0" sz="391" u="none" cap="none" strike="noStrike">
              <a:solidFill>
                <a:srgbClr val="4573CE"/>
              </a:solidFill>
              <a:latin typeface="Calibri"/>
              <a:ea typeface="Calibri"/>
              <a:cs typeface="Calibri"/>
              <a:sym typeface="Calibri"/>
            </a:endParaRPr>
          </a:p>
        </p:txBody>
      </p:sp>
      <p:pic>
        <p:nvPicPr>
          <p:cNvPr id="59" name="Google Shape;59;p5"/>
          <p:cNvPicPr preferRelativeResize="0"/>
          <p:nvPr/>
        </p:nvPicPr>
        <p:blipFill rotWithShape="1">
          <a:blip r:embed="rId2">
            <a:alphaModFix/>
          </a:blip>
          <a:srcRect b="0" l="0" r="0" t="0"/>
          <a:stretch/>
        </p:blipFill>
        <p:spPr>
          <a:xfrm>
            <a:off x="7149977" y="120987"/>
            <a:ext cx="353367" cy="245820"/>
          </a:xfrm>
          <a:prstGeom prst="rect">
            <a:avLst/>
          </a:prstGeom>
          <a:noFill/>
          <a:ln>
            <a:noFill/>
          </a:ln>
        </p:spPr>
      </p:pic>
      <p:pic>
        <p:nvPicPr>
          <p:cNvPr descr="A black and white logo&#10;&#10;Description automatically generated" id="60" name="Google Shape;60;p5"/>
          <p:cNvPicPr preferRelativeResize="0"/>
          <p:nvPr/>
        </p:nvPicPr>
        <p:blipFill rotWithShape="1">
          <a:blip r:embed="rId3">
            <a:alphaModFix/>
          </a:blip>
          <a:srcRect b="0" l="0" r="0" t="0"/>
          <a:stretch/>
        </p:blipFill>
        <p:spPr>
          <a:xfrm>
            <a:off x="4833694" y="120987"/>
            <a:ext cx="1013952" cy="245825"/>
          </a:xfrm>
          <a:prstGeom prst="rect">
            <a:avLst/>
          </a:prstGeom>
          <a:noFill/>
          <a:ln>
            <a:noFill/>
          </a:ln>
        </p:spPr>
      </p:pic>
      <p:pic>
        <p:nvPicPr>
          <p:cNvPr id="61" name="Google Shape;61;p5"/>
          <p:cNvPicPr preferRelativeResize="0"/>
          <p:nvPr/>
        </p:nvPicPr>
        <p:blipFill>
          <a:blip r:embed="rId4">
            <a:alphaModFix/>
          </a:blip>
          <a:stretch>
            <a:fillRect/>
          </a:stretch>
        </p:blipFill>
        <p:spPr>
          <a:xfrm>
            <a:off x="830400" y="141388"/>
            <a:ext cx="193319" cy="205016"/>
          </a:xfrm>
          <a:prstGeom prst="rect">
            <a:avLst/>
          </a:prstGeom>
          <a:noFill/>
          <a:ln>
            <a:noFill/>
          </a:ln>
        </p:spPr>
      </p:pic>
      <p:pic>
        <p:nvPicPr>
          <p:cNvPr id="62" name="Google Shape;62;p5"/>
          <p:cNvPicPr preferRelativeResize="0"/>
          <p:nvPr/>
        </p:nvPicPr>
        <p:blipFill>
          <a:blip r:embed="rId5">
            <a:alphaModFix/>
          </a:blip>
          <a:stretch>
            <a:fillRect/>
          </a:stretch>
        </p:blipFill>
        <p:spPr>
          <a:xfrm>
            <a:off x="1061356" y="169238"/>
            <a:ext cx="395095" cy="149320"/>
          </a:xfrm>
          <a:prstGeom prst="rect">
            <a:avLst/>
          </a:prstGeom>
          <a:noFill/>
          <a:ln>
            <a:noFill/>
          </a:ln>
        </p:spPr>
      </p:pic>
      <p:pic>
        <p:nvPicPr>
          <p:cNvPr id="63" name="Google Shape;63;p5"/>
          <p:cNvPicPr preferRelativeResize="0"/>
          <p:nvPr/>
        </p:nvPicPr>
        <p:blipFill>
          <a:blip r:embed="rId6">
            <a:alphaModFix/>
          </a:blip>
          <a:stretch>
            <a:fillRect/>
          </a:stretch>
        </p:blipFill>
        <p:spPr>
          <a:xfrm>
            <a:off x="2695663" y="68622"/>
            <a:ext cx="898826" cy="35054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 name="Google Shape;66;p6"/>
          <p:cNvGrpSpPr/>
          <p:nvPr/>
        </p:nvGrpSpPr>
        <p:grpSpPr>
          <a:xfrm>
            <a:off x="830392" y="1191256"/>
            <a:ext cx="745763" cy="45826"/>
            <a:chOff x="4580561" y="2589004"/>
            <a:chExt cx="1064464" cy="25200"/>
          </a:xfrm>
        </p:grpSpPr>
        <p:sp>
          <p:nvSpPr>
            <p:cNvPr id="67" name="Google Shape;67;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 name="Google Shape;69;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70" name="Google Shape;70;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71" name="Google Shape;71;p6"/>
          <p:cNvSpPr txBox="1"/>
          <p:nvPr/>
        </p:nvSpPr>
        <p:spPr>
          <a:xfrm>
            <a:off x="7545921" y="123070"/>
            <a:ext cx="871800" cy="241800"/>
          </a:xfrm>
          <a:prstGeom prst="rect">
            <a:avLst/>
          </a:prstGeom>
          <a:noFill/>
          <a:ln>
            <a:noFill/>
          </a:ln>
        </p:spPr>
        <p:txBody>
          <a:bodyPr anchorCtr="0" anchor="t" bIns="17900" lIns="35800" spcFirstLastPara="1" rIns="35800" wrap="square" tIns="17900">
            <a:spAutoFit/>
          </a:bodyPr>
          <a:lstStyle/>
          <a:p>
            <a:pPr indent="0" lvl="0" marL="0" marR="0" rtl="0" algn="l">
              <a:lnSpc>
                <a:spcPct val="103333"/>
              </a:lnSpc>
              <a:spcBef>
                <a:spcPts val="0"/>
              </a:spcBef>
              <a:spcAft>
                <a:spcPts val="235"/>
              </a:spcAft>
              <a:buClr>
                <a:srgbClr val="000000"/>
              </a:buClr>
              <a:buSzPts val="404"/>
              <a:buFont typeface="Arial"/>
              <a:buNone/>
            </a:pPr>
            <a:r>
              <a:rPr b="0" i="1" lang="en-GB" sz="326" u="none" cap="none" strike="noStrike">
                <a:solidFill>
                  <a:srgbClr val="4573CE"/>
                </a:solidFill>
                <a:latin typeface="Calibri"/>
                <a:ea typeface="Calibri"/>
                <a:cs typeface="Calibri"/>
                <a:sym typeface="Calibri"/>
              </a:rPr>
              <a:t>This project has received funding from the European Union’s Horizon 2020 research and innovation programme under grant agreement No </a:t>
            </a:r>
            <a:r>
              <a:rPr b="1" i="1" lang="en-GB" sz="326" u="none" cap="none" strike="noStrike">
                <a:solidFill>
                  <a:srgbClr val="4573CE"/>
                </a:solidFill>
                <a:latin typeface="Calibri"/>
                <a:ea typeface="Calibri"/>
                <a:cs typeface="Calibri"/>
                <a:sym typeface="Calibri"/>
              </a:rPr>
              <a:t>101008099</a:t>
            </a:r>
            <a:endParaRPr b="1" i="0" sz="391" u="none" cap="none" strike="noStrike">
              <a:solidFill>
                <a:srgbClr val="4573CE"/>
              </a:solidFill>
              <a:latin typeface="Calibri"/>
              <a:ea typeface="Calibri"/>
              <a:cs typeface="Calibri"/>
              <a:sym typeface="Calibri"/>
            </a:endParaRPr>
          </a:p>
        </p:txBody>
      </p:sp>
      <p:pic>
        <p:nvPicPr>
          <p:cNvPr id="72" name="Google Shape;72;p6"/>
          <p:cNvPicPr preferRelativeResize="0"/>
          <p:nvPr/>
        </p:nvPicPr>
        <p:blipFill rotWithShape="1">
          <a:blip r:embed="rId2">
            <a:alphaModFix/>
          </a:blip>
          <a:srcRect b="0" l="0" r="0" t="0"/>
          <a:stretch/>
        </p:blipFill>
        <p:spPr>
          <a:xfrm>
            <a:off x="7149977" y="120987"/>
            <a:ext cx="353367" cy="245820"/>
          </a:xfrm>
          <a:prstGeom prst="rect">
            <a:avLst/>
          </a:prstGeom>
          <a:noFill/>
          <a:ln>
            <a:noFill/>
          </a:ln>
        </p:spPr>
      </p:pic>
      <p:pic>
        <p:nvPicPr>
          <p:cNvPr descr="A black and white logo&#10;&#10;Description automatically generated" id="73" name="Google Shape;73;p6"/>
          <p:cNvPicPr preferRelativeResize="0"/>
          <p:nvPr/>
        </p:nvPicPr>
        <p:blipFill rotWithShape="1">
          <a:blip r:embed="rId3">
            <a:alphaModFix/>
          </a:blip>
          <a:srcRect b="0" l="0" r="0" t="0"/>
          <a:stretch/>
        </p:blipFill>
        <p:spPr>
          <a:xfrm>
            <a:off x="4833694" y="120987"/>
            <a:ext cx="1013952" cy="245825"/>
          </a:xfrm>
          <a:prstGeom prst="rect">
            <a:avLst/>
          </a:prstGeom>
          <a:noFill/>
          <a:ln>
            <a:noFill/>
          </a:ln>
        </p:spPr>
      </p:pic>
      <p:pic>
        <p:nvPicPr>
          <p:cNvPr id="74" name="Google Shape;74;p6"/>
          <p:cNvPicPr preferRelativeResize="0"/>
          <p:nvPr/>
        </p:nvPicPr>
        <p:blipFill>
          <a:blip r:embed="rId4">
            <a:alphaModFix/>
          </a:blip>
          <a:stretch>
            <a:fillRect/>
          </a:stretch>
        </p:blipFill>
        <p:spPr>
          <a:xfrm>
            <a:off x="830400" y="141388"/>
            <a:ext cx="193319" cy="205016"/>
          </a:xfrm>
          <a:prstGeom prst="rect">
            <a:avLst/>
          </a:prstGeom>
          <a:noFill/>
          <a:ln>
            <a:noFill/>
          </a:ln>
        </p:spPr>
      </p:pic>
      <p:pic>
        <p:nvPicPr>
          <p:cNvPr id="75" name="Google Shape;75;p6"/>
          <p:cNvPicPr preferRelativeResize="0"/>
          <p:nvPr/>
        </p:nvPicPr>
        <p:blipFill>
          <a:blip r:embed="rId5">
            <a:alphaModFix/>
          </a:blip>
          <a:stretch>
            <a:fillRect/>
          </a:stretch>
        </p:blipFill>
        <p:spPr>
          <a:xfrm>
            <a:off x="1061356" y="169238"/>
            <a:ext cx="395095" cy="149320"/>
          </a:xfrm>
          <a:prstGeom prst="rect">
            <a:avLst/>
          </a:prstGeom>
          <a:noFill/>
          <a:ln>
            <a:noFill/>
          </a:ln>
        </p:spPr>
      </p:pic>
      <p:pic>
        <p:nvPicPr>
          <p:cNvPr id="76" name="Google Shape;76;p6"/>
          <p:cNvPicPr preferRelativeResize="0"/>
          <p:nvPr/>
        </p:nvPicPr>
        <p:blipFill>
          <a:blip r:embed="rId6">
            <a:alphaModFix/>
          </a:blip>
          <a:stretch>
            <a:fillRect/>
          </a:stretch>
        </p:blipFill>
        <p:spPr>
          <a:xfrm>
            <a:off x="2695663" y="68622"/>
            <a:ext cx="898826" cy="35054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 name="Google Shape;79;p7"/>
          <p:cNvGrpSpPr/>
          <p:nvPr/>
        </p:nvGrpSpPr>
        <p:grpSpPr>
          <a:xfrm>
            <a:off x="830392" y="1191256"/>
            <a:ext cx="745763" cy="45826"/>
            <a:chOff x="4580561" y="2589004"/>
            <a:chExt cx="1064464" cy="25200"/>
          </a:xfrm>
        </p:grpSpPr>
        <p:sp>
          <p:nvSpPr>
            <p:cNvPr id="80" name="Google Shape;8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 name="Google Shape;8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83" name="Google Shape;8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84" name="Google Shape;8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85" name="Google Shape;85;p7"/>
          <p:cNvSpPr txBox="1"/>
          <p:nvPr/>
        </p:nvSpPr>
        <p:spPr>
          <a:xfrm>
            <a:off x="7545921" y="123070"/>
            <a:ext cx="871800" cy="241800"/>
          </a:xfrm>
          <a:prstGeom prst="rect">
            <a:avLst/>
          </a:prstGeom>
          <a:noFill/>
          <a:ln>
            <a:noFill/>
          </a:ln>
        </p:spPr>
        <p:txBody>
          <a:bodyPr anchorCtr="0" anchor="t" bIns="17900" lIns="35800" spcFirstLastPara="1" rIns="35800" wrap="square" tIns="17900">
            <a:spAutoFit/>
          </a:bodyPr>
          <a:lstStyle/>
          <a:p>
            <a:pPr indent="0" lvl="0" marL="0" marR="0" rtl="0" algn="l">
              <a:lnSpc>
                <a:spcPct val="103333"/>
              </a:lnSpc>
              <a:spcBef>
                <a:spcPts val="0"/>
              </a:spcBef>
              <a:spcAft>
                <a:spcPts val="235"/>
              </a:spcAft>
              <a:buClr>
                <a:srgbClr val="000000"/>
              </a:buClr>
              <a:buSzPts val="404"/>
              <a:buFont typeface="Arial"/>
              <a:buNone/>
            </a:pPr>
            <a:r>
              <a:rPr b="0" i="1" lang="en-GB" sz="326" u="none" cap="none" strike="noStrike">
                <a:solidFill>
                  <a:srgbClr val="4573CE"/>
                </a:solidFill>
                <a:latin typeface="Calibri"/>
                <a:ea typeface="Calibri"/>
                <a:cs typeface="Calibri"/>
                <a:sym typeface="Calibri"/>
              </a:rPr>
              <a:t>This project has received funding from the European Union’s Horizon 2020 research and innovation programme under grant agreement No </a:t>
            </a:r>
            <a:r>
              <a:rPr b="1" i="1" lang="en-GB" sz="326" u="none" cap="none" strike="noStrike">
                <a:solidFill>
                  <a:srgbClr val="4573CE"/>
                </a:solidFill>
                <a:latin typeface="Calibri"/>
                <a:ea typeface="Calibri"/>
                <a:cs typeface="Calibri"/>
                <a:sym typeface="Calibri"/>
              </a:rPr>
              <a:t>101008099</a:t>
            </a:r>
            <a:endParaRPr b="1" i="0" sz="391" u="none" cap="none" strike="noStrike">
              <a:solidFill>
                <a:srgbClr val="4573CE"/>
              </a:solidFill>
              <a:latin typeface="Calibri"/>
              <a:ea typeface="Calibri"/>
              <a:cs typeface="Calibri"/>
              <a:sym typeface="Calibri"/>
            </a:endParaRPr>
          </a:p>
        </p:txBody>
      </p:sp>
      <p:pic>
        <p:nvPicPr>
          <p:cNvPr id="86" name="Google Shape;86;p7"/>
          <p:cNvPicPr preferRelativeResize="0"/>
          <p:nvPr/>
        </p:nvPicPr>
        <p:blipFill rotWithShape="1">
          <a:blip r:embed="rId2">
            <a:alphaModFix/>
          </a:blip>
          <a:srcRect b="0" l="0" r="0" t="0"/>
          <a:stretch/>
        </p:blipFill>
        <p:spPr>
          <a:xfrm>
            <a:off x="7149977" y="120987"/>
            <a:ext cx="353367" cy="245820"/>
          </a:xfrm>
          <a:prstGeom prst="rect">
            <a:avLst/>
          </a:prstGeom>
          <a:noFill/>
          <a:ln>
            <a:noFill/>
          </a:ln>
        </p:spPr>
      </p:pic>
      <p:pic>
        <p:nvPicPr>
          <p:cNvPr descr="A black and white logo&#10;&#10;Description automatically generated" id="87" name="Google Shape;87;p7"/>
          <p:cNvPicPr preferRelativeResize="0"/>
          <p:nvPr/>
        </p:nvPicPr>
        <p:blipFill rotWithShape="1">
          <a:blip r:embed="rId3">
            <a:alphaModFix/>
          </a:blip>
          <a:srcRect b="0" l="0" r="0" t="0"/>
          <a:stretch/>
        </p:blipFill>
        <p:spPr>
          <a:xfrm>
            <a:off x="4833694" y="120987"/>
            <a:ext cx="1013952" cy="245825"/>
          </a:xfrm>
          <a:prstGeom prst="rect">
            <a:avLst/>
          </a:prstGeom>
          <a:noFill/>
          <a:ln>
            <a:noFill/>
          </a:ln>
        </p:spPr>
      </p:pic>
      <p:pic>
        <p:nvPicPr>
          <p:cNvPr id="88" name="Google Shape;88;p7"/>
          <p:cNvPicPr preferRelativeResize="0"/>
          <p:nvPr/>
        </p:nvPicPr>
        <p:blipFill>
          <a:blip r:embed="rId4">
            <a:alphaModFix/>
          </a:blip>
          <a:stretch>
            <a:fillRect/>
          </a:stretch>
        </p:blipFill>
        <p:spPr>
          <a:xfrm>
            <a:off x="830400" y="141388"/>
            <a:ext cx="193319" cy="205016"/>
          </a:xfrm>
          <a:prstGeom prst="rect">
            <a:avLst/>
          </a:prstGeom>
          <a:noFill/>
          <a:ln>
            <a:noFill/>
          </a:ln>
        </p:spPr>
      </p:pic>
      <p:pic>
        <p:nvPicPr>
          <p:cNvPr id="89" name="Google Shape;89;p7"/>
          <p:cNvPicPr preferRelativeResize="0"/>
          <p:nvPr/>
        </p:nvPicPr>
        <p:blipFill>
          <a:blip r:embed="rId5">
            <a:alphaModFix/>
          </a:blip>
          <a:stretch>
            <a:fillRect/>
          </a:stretch>
        </p:blipFill>
        <p:spPr>
          <a:xfrm>
            <a:off x="1061356" y="169238"/>
            <a:ext cx="395095" cy="149320"/>
          </a:xfrm>
          <a:prstGeom prst="rect">
            <a:avLst/>
          </a:prstGeom>
          <a:noFill/>
          <a:ln>
            <a:noFill/>
          </a:ln>
        </p:spPr>
      </p:pic>
      <p:pic>
        <p:nvPicPr>
          <p:cNvPr id="90" name="Google Shape;90;p7"/>
          <p:cNvPicPr preferRelativeResize="0"/>
          <p:nvPr/>
        </p:nvPicPr>
        <p:blipFill>
          <a:blip r:embed="rId6">
            <a:alphaModFix/>
          </a:blip>
          <a:stretch>
            <a:fillRect/>
          </a:stretch>
        </p:blipFill>
        <p:spPr>
          <a:xfrm>
            <a:off x="2695663" y="68622"/>
            <a:ext cx="898826" cy="35054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91" name="Shape 91"/>
        <p:cNvGrpSpPr/>
        <p:nvPr/>
      </p:nvGrpSpPr>
      <p:grpSpPr>
        <a:xfrm>
          <a:off x="0" y="0"/>
          <a:ext cx="0" cy="0"/>
          <a:chOff x="0" y="0"/>
          <a:chExt cx="0" cy="0"/>
        </a:xfrm>
      </p:grpSpPr>
      <p:grpSp>
        <p:nvGrpSpPr>
          <p:cNvPr id="92" name="Google Shape;92;p8"/>
          <p:cNvGrpSpPr/>
          <p:nvPr/>
        </p:nvGrpSpPr>
        <p:grpSpPr>
          <a:xfrm>
            <a:off x="830392" y="4169130"/>
            <a:ext cx="745763" cy="45826"/>
            <a:chOff x="4580561" y="2589004"/>
            <a:chExt cx="1064464" cy="25200"/>
          </a:xfrm>
        </p:grpSpPr>
        <p:sp>
          <p:nvSpPr>
            <p:cNvPr id="93" name="Google Shape;93;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96" name="Google Shape;96;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7" name="Shape 97"/>
        <p:cNvGrpSpPr/>
        <p:nvPr/>
      </p:nvGrpSpPr>
      <p:grpSpPr>
        <a:xfrm>
          <a:off x="0" y="0"/>
          <a:ext cx="0" cy="0"/>
          <a:chOff x="0" y="0"/>
          <a:chExt cx="0" cy="0"/>
        </a:xfrm>
      </p:grpSpPr>
      <p:sp>
        <p:nvSpPr>
          <p:cNvPr id="98" name="Google Shape;98;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 name="Google Shape;99;p9"/>
          <p:cNvGrpSpPr/>
          <p:nvPr/>
        </p:nvGrpSpPr>
        <p:grpSpPr>
          <a:xfrm>
            <a:off x="830392" y="1191256"/>
            <a:ext cx="745763" cy="45826"/>
            <a:chOff x="4580561" y="2589004"/>
            <a:chExt cx="1064464" cy="25200"/>
          </a:xfrm>
        </p:grpSpPr>
        <p:sp>
          <p:nvSpPr>
            <p:cNvPr id="100" name="Google Shape;100;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 name="Google Shape;102;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103" name="Google Shape;103;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04" name="Google Shape;104;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5" name="Google Shape;105;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6" name="Shape 106"/>
        <p:cNvGrpSpPr/>
        <p:nvPr/>
      </p:nvGrpSpPr>
      <p:grpSpPr>
        <a:xfrm>
          <a:off x="0" y="0"/>
          <a:ext cx="0" cy="0"/>
          <a:chOff x="0" y="0"/>
          <a:chExt cx="0" cy="0"/>
        </a:xfrm>
      </p:grpSpPr>
      <p:sp>
        <p:nvSpPr>
          <p:cNvPr id="107" name="Google Shape;107;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09" name="Shape 109"/>
        <p:cNvGrpSpPr/>
        <p:nvPr/>
      </p:nvGrpSpPr>
      <p:grpSpPr>
        <a:xfrm>
          <a:off x="0" y="0"/>
          <a:ext cx="0" cy="0"/>
          <a:chOff x="0" y="0"/>
          <a:chExt cx="0" cy="0"/>
        </a:xfrm>
      </p:grpSpPr>
      <p:grpSp>
        <p:nvGrpSpPr>
          <p:cNvPr id="110" name="Google Shape;110;p11"/>
          <p:cNvGrpSpPr/>
          <p:nvPr/>
        </p:nvGrpSpPr>
        <p:grpSpPr>
          <a:xfrm>
            <a:off x="830392" y="4169130"/>
            <a:ext cx="745763" cy="45826"/>
            <a:chOff x="4580561" y="2589004"/>
            <a:chExt cx="1064464" cy="25200"/>
          </a:xfrm>
        </p:grpSpPr>
        <p:sp>
          <p:nvSpPr>
            <p:cNvPr id="111" name="Google Shape;111;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14" name="Google Shape;114;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115" name="Google Shape;115;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6" name="Shape 116"/>
        <p:cNvGrpSpPr/>
        <p:nvPr/>
      </p:nvGrpSpPr>
      <p:grpSpPr>
        <a:xfrm>
          <a:off x="0" y="0"/>
          <a:ext cx="0" cy="0"/>
          <a:chOff x="0" y="0"/>
          <a:chExt cx="0" cy="0"/>
        </a:xfrm>
      </p:grpSpPr>
      <p:sp>
        <p:nvSpPr>
          <p:cNvPr id="117" name="Google Shape;117;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6.xml"/><Relationship Id="rId10" Type="http://schemas.openxmlformats.org/officeDocument/2006/relationships/slideLayout" Target="../slideLayouts/slideLayout5.xml"/><Relationship Id="rId13" Type="http://schemas.openxmlformats.org/officeDocument/2006/relationships/slideLayout" Target="../slideLayouts/slideLayout8.xml"/><Relationship Id="rId12" Type="http://schemas.openxmlformats.org/officeDocument/2006/relationships/slideLayout" Target="../slideLayouts/slideLayout7.xml"/><Relationship Id="rId1" Type="http://schemas.openxmlformats.org/officeDocument/2006/relationships/image" Target="../media/image4.png"/><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slideLayout" Target="../slideLayouts/slideLayout4.xml"/><Relationship Id="rId15" Type="http://schemas.openxmlformats.org/officeDocument/2006/relationships/slideLayout" Target="../slideLayouts/slideLayout10.xml"/><Relationship Id="rId14" Type="http://schemas.openxmlformats.org/officeDocument/2006/relationships/slideLayout" Target="../slideLayouts/slideLayout9.xml"/><Relationship Id="rId17" Type="http://schemas.openxmlformats.org/officeDocument/2006/relationships/theme" Target="../theme/theme2.xml"/><Relationship Id="rId16" Type="http://schemas.openxmlformats.org/officeDocument/2006/relationships/slideLayout" Target="../slideLayouts/slideLayout11.xml"/><Relationship Id="rId5" Type="http://schemas.openxmlformats.org/officeDocument/2006/relationships/image" Target="../media/image3.png"/><Relationship Id="rId6" Type="http://schemas.openxmlformats.org/officeDocument/2006/relationships/slideLayout" Target="../slideLayouts/slideLayout1.xml"/><Relationship Id="rId7" Type="http://schemas.openxmlformats.org/officeDocument/2006/relationships/slideLayout" Target="../slideLayouts/slideLayout2.xml"/><Relationship Id="rId8"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71900" y="101772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
        <p:nvSpPr>
          <p:cNvPr id="9" name="Google Shape;9;p1"/>
          <p:cNvSpPr txBox="1"/>
          <p:nvPr/>
        </p:nvSpPr>
        <p:spPr>
          <a:xfrm>
            <a:off x="6073421" y="62295"/>
            <a:ext cx="871800" cy="241800"/>
          </a:xfrm>
          <a:prstGeom prst="rect">
            <a:avLst/>
          </a:prstGeom>
          <a:noFill/>
          <a:ln>
            <a:noFill/>
          </a:ln>
        </p:spPr>
        <p:txBody>
          <a:bodyPr anchorCtr="0" anchor="t" bIns="17900" lIns="35800" spcFirstLastPara="1" rIns="35800" wrap="square" tIns="17900">
            <a:spAutoFit/>
          </a:bodyPr>
          <a:lstStyle/>
          <a:p>
            <a:pPr indent="0" lvl="0" marL="0" marR="0" rtl="0" algn="l">
              <a:lnSpc>
                <a:spcPct val="103333"/>
              </a:lnSpc>
              <a:spcBef>
                <a:spcPts val="0"/>
              </a:spcBef>
              <a:spcAft>
                <a:spcPts val="235"/>
              </a:spcAft>
              <a:buClr>
                <a:srgbClr val="000000"/>
              </a:buClr>
              <a:buSzPts val="404"/>
              <a:buFont typeface="Arial"/>
              <a:buNone/>
            </a:pPr>
            <a:r>
              <a:rPr b="0" i="1" lang="en-GB" sz="326" u="none" cap="none" strike="noStrike">
                <a:solidFill>
                  <a:srgbClr val="4573CE"/>
                </a:solidFill>
                <a:latin typeface="Calibri"/>
                <a:ea typeface="Calibri"/>
                <a:cs typeface="Calibri"/>
                <a:sym typeface="Calibri"/>
              </a:rPr>
              <a:t>This project has received funding from the European Union’s Horizon 2020 research and innovation programme under grant agreement No </a:t>
            </a:r>
            <a:r>
              <a:rPr b="1" i="1" lang="en-GB" sz="326" u="none" cap="none" strike="noStrike">
                <a:solidFill>
                  <a:srgbClr val="4573CE"/>
                </a:solidFill>
                <a:latin typeface="Calibri"/>
                <a:ea typeface="Calibri"/>
                <a:cs typeface="Calibri"/>
                <a:sym typeface="Calibri"/>
              </a:rPr>
              <a:t>101008099</a:t>
            </a:r>
            <a:endParaRPr b="1" i="0" sz="391" u="none" cap="none" strike="noStrike">
              <a:solidFill>
                <a:srgbClr val="4573CE"/>
              </a:solidFill>
              <a:latin typeface="Calibri"/>
              <a:ea typeface="Calibri"/>
              <a:cs typeface="Calibri"/>
              <a:sym typeface="Calibri"/>
            </a:endParaRPr>
          </a:p>
        </p:txBody>
      </p:sp>
      <p:pic>
        <p:nvPicPr>
          <p:cNvPr id="10" name="Google Shape;10;p1"/>
          <p:cNvPicPr preferRelativeResize="0"/>
          <p:nvPr/>
        </p:nvPicPr>
        <p:blipFill rotWithShape="1">
          <a:blip r:embed="rId1">
            <a:alphaModFix/>
          </a:blip>
          <a:srcRect b="0" l="0" r="0" t="0"/>
          <a:stretch/>
        </p:blipFill>
        <p:spPr>
          <a:xfrm>
            <a:off x="5677477" y="60212"/>
            <a:ext cx="353367" cy="245820"/>
          </a:xfrm>
          <a:prstGeom prst="rect">
            <a:avLst/>
          </a:prstGeom>
          <a:noFill/>
          <a:ln>
            <a:noFill/>
          </a:ln>
        </p:spPr>
      </p:pic>
      <p:pic>
        <p:nvPicPr>
          <p:cNvPr descr="A black and white logo&#10;&#10;Description automatically generated" id="11" name="Google Shape;11;p1"/>
          <p:cNvPicPr preferRelativeResize="0"/>
          <p:nvPr/>
        </p:nvPicPr>
        <p:blipFill rotWithShape="1">
          <a:blip r:embed="rId2">
            <a:alphaModFix/>
          </a:blip>
          <a:srcRect b="0" l="0" r="0" t="0"/>
          <a:stretch/>
        </p:blipFill>
        <p:spPr>
          <a:xfrm>
            <a:off x="4545517" y="80597"/>
            <a:ext cx="581600" cy="205025"/>
          </a:xfrm>
          <a:prstGeom prst="rect">
            <a:avLst/>
          </a:prstGeom>
          <a:noFill/>
          <a:ln>
            <a:noFill/>
          </a:ln>
        </p:spPr>
      </p:pic>
      <p:pic>
        <p:nvPicPr>
          <p:cNvPr id="12" name="Google Shape;12;p1"/>
          <p:cNvPicPr preferRelativeResize="0"/>
          <p:nvPr/>
        </p:nvPicPr>
        <p:blipFill>
          <a:blip r:embed="rId3">
            <a:alphaModFix/>
          </a:blip>
          <a:stretch>
            <a:fillRect/>
          </a:stretch>
        </p:blipFill>
        <p:spPr>
          <a:xfrm>
            <a:off x="2198775" y="101001"/>
            <a:ext cx="193319" cy="205016"/>
          </a:xfrm>
          <a:prstGeom prst="rect">
            <a:avLst/>
          </a:prstGeom>
          <a:noFill/>
          <a:ln>
            <a:noFill/>
          </a:ln>
        </p:spPr>
      </p:pic>
      <p:pic>
        <p:nvPicPr>
          <p:cNvPr id="13" name="Google Shape;13;p1"/>
          <p:cNvPicPr preferRelativeResize="0"/>
          <p:nvPr/>
        </p:nvPicPr>
        <p:blipFill>
          <a:blip r:embed="rId4">
            <a:alphaModFix/>
          </a:blip>
          <a:stretch>
            <a:fillRect/>
          </a:stretch>
        </p:blipFill>
        <p:spPr>
          <a:xfrm>
            <a:off x="2429731" y="128850"/>
            <a:ext cx="395095" cy="149320"/>
          </a:xfrm>
          <a:prstGeom prst="rect">
            <a:avLst/>
          </a:prstGeom>
          <a:noFill/>
          <a:ln>
            <a:noFill/>
          </a:ln>
        </p:spPr>
      </p:pic>
      <p:pic>
        <p:nvPicPr>
          <p:cNvPr id="14" name="Google Shape;14;p1"/>
          <p:cNvPicPr preferRelativeResize="0"/>
          <p:nvPr/>
        </p:nvPicPr>
        <p:blipFill>
          <a:blip r:embed="rId5">
            <a:alphaModFix/>
          </a:blip>
          <a:stretch>
            <a:fillRect/>
          </a:stretch>
        </p:blipFill>
        <p:spPr>
          <a:xfrm>
            <a:off x="3375173" y="62288"/>
            <a:ext cx="619996" cy="2418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6"/>
    <p:sldLayoutId id="2147483649" r:id="rId7"/>
    <p:sldLayoutId id="2147483650" r:id="rId8"/>
    <p:sldLayoutId id="2147483651" r:id="rId9"/>
    <p:sldLayoutId id="2147483652" r:id="rId10"/>
    <p:sldLayoutId id="2147483653" r:id="rId11"/>
    <p:sldLayoutId id="2147483654" r:id="rId12"/>
    <p:sldLayoutId id="2147483655" r:id="rId13"/>
    <p:sldLayoutId id="2147483656" r:id="rId14"/>
    <p:sldLayoutId id="2147483657" r:id="rId15"/>
    <p:sldLayoutId id="2147483658"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hyperlink" Target="https://www.sigmaaldrich.com/EG/en/technical-documents/technical-article/materials-science-and-engineering/organic-electronics/mxenes?srsltid=AfmBOoqipPHrhC-d25nhr2PCKAzTuluRurbxbR6JRbOvx7EBL8lQoWXz"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7.png"/><Relationship Id="rId9" Type="http://schemas.openxmlformats.org/officeDocument/2006/relationships/image" Target="../media/image18.png"/><Relationship Id="rId5" Type="http://schemas.openxmlformats.org/officeDocument/2006/relationships/image" Target="../media/image8.png"/><Relationship Id="rId6" Type="http://schemas.openxmlformats.org/officeDocument/2006/relationships/hyperlink" Target="https://docs.google.com/spreadsheets/d/1XL1x6jTfbjNHLq6eOBzV_5hjdcZAzYSb7yOsFI6yxh0/edit?usp=sharing" TargetMode="External"/><Relationship Id="rId7" Type="http://schemas.openxmlformats.org/officeDocument/2006/relationships/hyperlink" Target="https://pubmed-cheminsight.edelweissconnect.com/" TargetMode="External"/><Relationship Id="rId8" Type="http://schemas.openxmlformats.org/officeDocument/2006/relationships/hyperlink" Target="https://docs.google.com/spreadsheets/d/13CAH0IYsuVhJq8dka3yP-758oWPkzhxfcUJUpZyOpWw/edit?usp=shari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docs.google.com/spreadsheets/d/13CAH0IYsuVhJq8dka3yP-758oWPkzhxfcUJUpZyOpWw/edit?usp=sharing" TargetMode="Externa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8.png"/><Relationship Id="rId4" Type="http://schemas.openxmlformats.org/officeDocument/2006/relationships/image" Target="../media/image34.png"/><Relationship Id="rId5" Type="http://schemas.openxmlformats.org/officeDocument/2006/relationships/image" Target="../media/image29.png"/><Relationship Id="rId6" Type="http://schemas.openxmlformats.org/officeDocument/2006/relationships/image" Target="../media/image27.png"/><Relationship Id="rId7"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drive.google.com/drive/folders/1lP-2EUZKbQchOfedCiZ8OXBNPdcLbK_z?usp=sharin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drive.google.com/drive/folders/1lP-2EUZKbQchOfedCiZ8OXBNPdcLbK_z?usp=sharing"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drive.google.com/drive/folders/17F5_6xlBZv_axkV2aZFK5kzJGFKg632P?usp=sharing"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doi.org/10.1021/acsnano.1c03161" TargetMode="External"/><Relationship Id="rId4" Type="http://schemas.openxmlformats.org/officeDocument/2006/relationships/hyperlink" Target="https://www.bioinformatics.babraham.ac.uk/projects/fastqc/" TargetMode="External"/><Relationship Id="rId5" Type="http://schemas.openxmlformats.org/officeDocument/2006/relationships/hyperlink" Target="https://multiqc.info"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mailto:asmaa@edelweissconnect.com" TargetMode="External"/><Relationship Id="rId4" Type="http://schemas.openxmlformats.org/officeDocument/2006/relationships/hyperlink" Target="https://www.linkedin.com/in/asmaa-a-abdelwahab/" TargetMode="External"/><Relationship Id="rId5" Type="http://schemas.openxmlformats.org/officeDocument/2006/relationships/image" Target="../media/image38.png"/><Relationship Id="rId6" Type="http://schemas.openxmlformats.org/officeDocument/2006/relationships/image" Target="../media/image36.png"/><Relationship Id="rId7" Type="http://schemas.openxmlformats.org/officeDocument/2006/relationships/hyperlink" Target="https://github.com/asmaa-a-abdelwahab" TargetMode="External"/><Relationship Id="rId8"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3080"/>
              <a:t>Integrating Omics and Literature to Map AOPs for MXenes: From Differential Expression to Adverse Outcomes</a:t>
            </a:r>
            <a:endParaRPr sz="3080"/>
          </a:p>
        </p:txBody>
      </p:sp>
      <p:sp>
        <p:nvSpPr>
          <p:cNvPr id="123" name="Google Shape;123;p13"/>
          <p:cNvSpPr txBox="1"/>
          <p:nvPr>
            <p:ph idx="1" type="subTitle"/>
          </p:nvPr>
        </p:nvSpPr>
        <p:spPr>
          <a:xfrm>
            <a:off x="729450" y="3348675"/>
            <a:ext cx="5526300" cy="873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GB" sz="2000">
                <a:solidFill>
                  <a:schemeClr val="accent3"/>
                </a:solidFill>
              </a:rPr>
              <a:t>Asmaa Ali</a:t>
            </a:r>
            <a:r>
              <a:rPr b="1" lang="en-GB" sz="2000">
                <a:solidFill>
                  <a:schemeClr val="dk2"/>
                </a:solidFill>
              </a:rPr>
              <a:t> -</a:t>
            </a:r>
            <a:r>
              <a:rPr b="1" lang="en-GB" sz="2000">
                <a:solidFill>
                  <a:schemeClr val="dk1"/>
                </a:solidFill>
              </a:rPr>
              <a:t> </a:t>
            </a:r>
            <a:r>
              <a:rPr b="1" lang="en-GB" sz="2000">
                <a:solidFill>
                  <a:srgbClr val="188038"/>
                </a:solidFill>
              </a:rPr>
              <a:t>Research Data Scientist @ EwC</a:t>
            </a:r>
            <a:endParaRPr b="1" sz="2000">
              <a:solidFill>
                <a:srgbClr val="188038"/>
              </a:solidFill>
            </a:endParaRPr>
          </a:p>
        </p:txBody>
      </p:sp>
      <p:pic>
        <p:nvPicPr>
          <p:cNvPr id="124" name="Google Shape;124;p13"/>
          <p:cNvPicPr preferRelativeResize="0"/>
          <p:nvPr/>
        </p:nvPicPr>
        <p:blipFill rotWithShape="1">
          <a:blip r:embed="rId3">
            <a:alphaModFix/>
          </a:blip>
          <a:srcRect b="4105" l="3401" r="2126" t="2394"/>
          <a:stretch/>
        </p:blipFill>
        <p:spPr>
          <a:xfrm>
            <a:off x="6688125" y="2987150"/>
            <a:ext cx="1729425" cy="1711575"/>
          </a:xfrm>
          <a:prstGeom prst="rect">
            <a:avLst/>
          </a:prstGeom>
          <a:noFill/>
          <a:ln cap="flat" cmpd="sng" w="19050">
            <a:solidFill>
              <a:srgbClr val="D9D9D9"/>
            </a:solidFill>
            <a:prstDash val="solid"/>
            <a:round/>
            <a:headEnd len="sm" w="sm" type="none"/>
            <a:tailEnd len="sm" w="sm" type="none"/>
          </a:ln>
        </p:spPr>
      </p:pic>
      <p:sp>
        <p:nvSpPr>
          <p:cNvPr id="125" name="Google Shape;125;p1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4"/>
          <p:cNvSpPr txBox="1"/>
          <p:nvPr>
            <p:ph type="title"/>
          </p:nvPr>
        </p:nvSpPr>
        <p:spPr>
          <a:xfrm>
            <a:off x="729450" y="647759"/>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are MXenes?</a:t>
            </a:r>
            <a:endParaRPr/>
          </a:p>
        </p:txBody>
      </p:sp>
      <p:sp>
        <p:nvSpPr>
          <p:cNvPr id="131" name="Google Shape;131;p14"/>
          <p:cNvSpPr txBox="1"/>
          <p:nvPr>
            <p:ph idx="1" type="body"/>
          </p:nvPr>
        </p:nvSpPr>
        <p:spPr>
          <a:xfrm>
            <a:off x="574275" y="1381050"/>
            <a:ext cx="3770100" cy="3466500"/>
          </a:xfrm>
          <a:prstGeom prst="rect">
            <a:avLst/>
          </a:prstGeom>
        </p:spPr>
        <p:txBody>
          <a:bodyPr anchorCtr="0" anchor="ctr" bIns="91425" lIns="91425" spcFirstLastPara="1" rIns="91425" wrap="square" tIns="91425">
            <a:normAutofit/>
          </a:bodyPr>
          <a:lstStyle/>
          <a:p>
            <a:pPr indent="-311150" lvl="0" marL="457200" rtl="0" algn="l">
              <a:lnSpc>
                <a:spcPct val="100000"/>
              </a:lnSpc>
              <a:spcBef>
                <a:spcPts val="0"/>
              </a:spcBef>
              <a:spcAft>
                <a:spcPts val="0"/>
              </a:spcAft>
              <a:buClr>
                <a:srgbClr val="000000"/>
              </a:buClr>
              <a:buSzPts val="1300"/>
              <a:buFont typeface="Arial"/>
              <a:buChar char="●"/>
            </a:pPr>
            <a:r>
              <a:rPr b="1" lang="en-GB">
                <a:solidFill>
                  <a:srgbClr val="000000"/>
                </a:solidFill>
                <a:latin typeface="Arial"/>
                <a:ea typeface="Arial"/>
                <a:cs typeface="Arial"/>
                <a:sym typeface="Arial"/>
              </a:rPr>
              <a:t>2D nanomaterials</a:t>
            </a:r>
            <a:r>
              <a:rPr lang="en-GB">
                <a:solidFill>
                  <a:srgbClr val="000000"/>
                </a:solidFill>
                <a:latin typeface="Arial"/>
                <a:ea typeface="Arial"/>
                <a:cs typeface="Arial"/>
                <a:sym typeface="Arial"/>
              </a:rPr>
              <a:t> from carbides, nitrides &amp; carbonitrides &amp; </a:t>
            </a:r>
            <a:r>
              <a:rPr lang="en-GB">
                <a:solidFill>
                  <a:srgbClr val="000000"/>
                </a:solidFill>
                <a:latin typeface="Arial"/>
                <a:ea typeface="Arial"/>
                <a:cs typeface="Arial"/>
                <a:sym typeface="Arial"/>
              </a:rPr>
              <a:t>First discovered in </a:t>
            </a:r>
            <a:r>
              <a:rPr b="1" lang="en-GB">
                <a:solidFill>
                  <a:srgbClr val="000000"/>
                </a:solidFill>
                <a:latin typeface="Arial"/>
                <a:ea typeface="Arial"/>
                <a:cs typeface="Arial"/>
                <a:sym typeface="Arial"/>
              </a:rPr>
              <a:t>2011 (Ti₃C₂)</a:t>
            </a:r>
            <a:endParaRPr>
              <a:solidFill>
                <a:srgbClr val="000000"/>
              </a:solidFill>
              <a:latin typeface="Arial"/>
              <a:ea typeface="Arial"/>
              <a:cs typeface="Arial"/>
              <a:sym typeface="Arial"/>
            </a:endParaRPr>
          </a:p>
          <a:p>
            <a:pPr indent="-311150" lvl="0" marL="457200" rtl="0" algn="l">
              <a:lnSpc>
                <a:spcPct val="100000"/>
              </a:lnSpc>
              <a:spcBef>
                <a:spcPts val="1000"/>
              </a:spcBef>
              <a:spcAft>
                <a:spcPts val="0"/>
              </a:spcAft>
              <a:buClr>
                <a:srgbClr val="000000"/>
              </a:buClr>
              <a:buSzPts val="1300"/>
              <a:buFont typeface="Arial"/>
              <a:buChar char="●"/>
            </a:pPr>
            <a:r>
              <a:rPr b="1" lang="en-GB">
                <a:solidFill>
                  <a:srgbClr val="000000"/>
                </a:solidFill>
                <a:latin typeface="Arial"/>
                <a:ea typeface="Arial"/>
                <a:cs typeface="Arial"/>
                <a:sym typeface="Arial"/>
              </a:rPr>
              <a:t>General formula:</a:t>
            </a:r>
            <a:r>
              <a:rPr lang="en-GB">
                <a:solidFill>
                  <a:srgbClr val="000000"/>
                </a:solidFill>
                <a:latin typeface="Arial"/>
                <a:ea typeface="Arial"/>
                <a:cs typeface="Arial"/>
                <a:sym typeface="Arial"/>
              </a:rPr>
              <a:t> </a:t>
            </a:r>
            <a:r>
              <a:rPr b="1" lang="en-GB">
                <a:solidFill>
                  <a:srgbClr val="000000"/>
                </a:solidFill>
                <a:highlight>
                  <a:srgbClr val="EFEFEF"/>
                </a:highlight>
                <a:latin typeface="Arial"/>
                <a:ea typeface="Arial"/>
                <a:cs typeface="Arial"/>
                <a:sym typeface="Arial"/>
              </a:rPr>
              <a:t>Mₙ₊₁XₙTₓ</a:t>
            </a:r>
            <a:endParaRPr>
              <a:solidFill>
                <a:srgbClr val="000000"/>
              </a:solidFill>
              <a:highlight>
                <a:srgbClr val="EFEFEF"/>
              </a:highlight>
              <a:latin typeface="Arial"/>
              <a:ea typeface="Arial"/>
              <a:cs typeface="Arial"/>
              <a:sym typeface="Arial"/>
            </a:endParaRPr>
          </a:p>
          <a:p>
            <a:pPr indent="-311150" lvl="1" marL="914400" rtl="0" algn="l">
              <a:lnSpc>
                <a:spcPct val="100000"/>
              </a:lnSpc>
              <a:spcBef>
                <a:spcPts val="1000"/>
              </a:spcBef>
              <a:spcAft>
                <a:spcPts val="0"/>
              </a:spcAft>
              <a:buClr>
                <a:srgbClr val="000000"/>
              </a:buClr>
              <a:buSzPts val="1300"/>
              <a:buFont typeface="Arial"/>
              <a:buChar char="○"/>
            </a:pPr>
            <a:r>
              <a:rPr b="1" lang="en-GB" sz="1300">
                <a:solidFill>
                  <a:srgbClr val="000000"/>
                </a:solidFill>
                <a:latin typeface="Arial"/>
                <a:ea typeface="Arial"/>
                <a:cs typeface="Arial"/>
                <a:sym typeface="Arial"/>
              </a:rPr>
              <a:t>M (Transition Metal):</a:t>
            </a:r>
            <a:r>
              <a:rPr lang="en-GB" sz="1300">
                <a:solidFill>
                  <a:srgbClr val="000000"/>
                </a:solidFill>
                <a:latin typeface="Arial"/>
                <a:ea typeface="Arial"/>
                <a:cs typeface="Arial"/>
                <a:sym typeface="Arial"/>
              </a:rPr>
              <a:t> Ti, V, Mo, Nb…</a:t>
            </a:r>
            <a:endParaRPr sz="1300">
              <a:solidFill>
                <a:srgbClr val="000000"/>
              </a:solidFill>
              <a:latin typeface="Arial"/>
              <a:ea typeface="Arial"/>
              <a:cs typeface="Arial"/>
              <a:sym typeface="Arial"/>
            </a:endParaRPr>
          </a:p>
          <a:p>
            <a:pPr indent="-311150" lvl="1" marL="914400" rtl="0" algn="l">
              <a:lnSpc>
                <a:spcPct val="100000"/>
              </a:lnSpc>
              <a:spcBef>
                <a:spcPts val="0"/>
              </a:spcBef>
              <a:spcAft>
                <a:spcPts val="0"/>
              </a:spcAft>
              <a:buClr>
                <a:srgbClr val="000000"/>
              </a:buClr>
              <a:buSzPts val="1300"/>
              <a:buFont typeface="Arial"/>
              <a:buChar char="○"/>
            </a:pPr>
            <a:r>
              <a:rPr b="1" lang="en-GB" sz="1300">
                <a:solidFill>
                  <a:srgbClr val="000000"/>
                </a:solidFill>
                <a:latin typeface="Arial"/>
                <a:ea typeface="Arial"/>
                <a:cs typeface="Arial"/>
                <a:sym typeface="Arial"/>
              </a:rPr>
              <a:t>X:</a:t>
            </a:r>
            <a:r>
              <a:rPr lang="en-GB" sz="1300">
                <a:solidFill>
                  <a:srgbClr val="000000"/>
                </a:solidFill>
                <a:latin typeface="Arial"/>
                <a:ea typeface="Arial"/>
                <a:cs typeface="Arial"/>
                <a:sym typeface="Arial"/>
              </a:rPr>
              <a:t> C or N</a:t>
            </a:r>
            <a:endParaRPr sz="1300">
              <a:solidFill>
                <a:srgbClr val="000000"/>
              </a:solidFill>
              <a:latin typeface="Arial"/>
              <a:ea typeface="Arial"/>
              <a:cs typeface="Arial"/>
              <a:sym typeface="Arial"/>
            </a:endParaRPr>
          </a:p>
          <a:p>
            <a:pPr indent="-311150" lvl="1" marL="914400" rtl="0" algn="l">
              <a:lnSpc>
                <a:spcPct val="100000"/>
              </a:lnSpc>
              <a:spcBef>
                <a:spcPts val="0"/>
              </a:spcBef>
              <a:spcAft>
                <a:spcPts val="0"/>
              </a:spcAft>
              <a:buClr>
                <a:srgbClr val="000000"/>
              </a:buClr>
              <a:buSzPts val="1300"/>
              <a:buFont typeface="Arial"/>
              <a:buChar char="○"/>
            </a:pPr>
            <a:r>
              <a:rPr b="1" lang="en-GB" sz="1300">
                <a:solidFill>
                  <a:srgbClr val="000000"/>
                </a:solidFill>
                <a:latin typeface="Arial"/>
                <a:ea typeface="Arial"/>
                <a:cs typeface="Arial"/>
                <a:sym typeface="Arial"/>
              </a:rPr>
              <a:t>Tₓ (Surface Terminations):</a:t>
            </a:r>
            <a:r>
              <a:rPr lang="en-GB" sz="1300">
                <a:solidFill>
                  <a:srgbClr val="000000"/>
                </a:solidFill>
                <a:latin typeface="Arial"/>
                <a:ea typeface="Arial"/>
                <a:cs typeface="Arial"/>
                <a:sym typeface="Arial"/>
              </a:rPr>
              <a:t> –O, –OH, –F, –Cl</a:t>
            </a:r>
            <a:endParaRPr b="1" sz="1300">
              <a:solidFill>
                <a:srgbClr val="000000"/>
              </a:solidFill>
              <a:latin typeface="Arial"/>
              <a:ea typeface="Arial"/>
              <a:cs typeface="Arial"/>
              <a:sym typeface="Arial"/>
            </a:endParaRPr>
          </a:p>
          <a:p>
            <a:pPr indent="-311150" lvl="0" marL="457200" rtl="0" algn="l">
              <a:spcBef>
                <a:spcPts val="1000"/>
              </a:spcBef>
              <a:spcAft>
                <a:spcPts val="1200"/>
              </a:spcAft>
              <a:buClr>
                <a:srgbClr val="000000"/>
              </a:buClr>
              <a:buSzPts val="1300"/>
              <a:buFont typeface="Arial"/>
              <a:buChar char="●"/>
            </a:pPr>
            <a:r>
              <a:rPr lang="en-GB">
                <a:solidFill>
                  <a:srgbClr val="000000"/>
                </a:solidFill>
                <a:latin typeface="Arial"/>
                <a:ea typeface="Arial"/>
                <a:cs typeface="Arial"/>
                <a:sym typeface="Arial"/>
              </a:rPr>
              <a:t>In addition to M, X, and T, MXenes also have </a:t>
            </a:r>
            <a:r>
              <a:rPr b="1" lang="en-GB">
                <a:solidFill>
                  <a:srgbClr val="000000"/>
                </a:solidFill>
                <a:latin typeface="Arial"/>
                <a:ea typeface="Arial"/>
                <a:cs typeface="Arial"/>
                <a:sym typeface="Arial"/>
              </a:rPr>
              <a:t>structural variations</a:t>
            </a:r>
            <a:r>
              <a:rPr lang="en-GB">
                <a:solidFill>
                  <a:srgbClr val="000000"/>
                </a:solidFill>
                <a:latin typeface="Arial"/>
                <a:ea typeface="Arial"/>
                <a:cs typeface="Arial"/>
                <a:sym typeface="Arial"/>
              </a:rPr>
              <a:t> (n, stacking, T position)</a:t>
            </a:r>
            <a:endParaRPr>
              <a:solidFill>
                <a:srgbClr val="000000"/>
              </a:solidFill>
              <a:latin typeface="Arial"/>
              <a:ea typeface="Arial"/>
              <a:cs typeface="Arial"/>
              <a:sym typeface="Arial"/>
            </a:endParaRPr>
          </a:p>
        </p:txBody>
      </p:sp>
      <p:sp>
        <p:nvSpPr>
          <p:cNvPr id="132" name="Google Shape;132;p1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33" name="Google Shape;133;p14"/>
          <p:cNvPicPr preferRelativeResize="0"/>
          <p:nvPr/>
        </p:nvPicPr>
        <p:blipFill>
          <a:blip r:embed="rId3">
            <a:alphaModFix/>
          </a:blip>
          <a:stretch>
            <a:fillRect/>
          </a:stretch>
        </p:blipFill>
        <p:spPr>
          <a:xfrm>
            <a:off x="4688775" y="2075020"/>
            <a:ext cx="4253600" cy="2455899"/>
          </a:xfrm>
          <a:prstGeom prst="rect">
            <a:avLst/>
          </a:prstGeom>
          <a:noFill/>
          <a:ln>
            <a:noFill/>
          </a:ln>
        </p:spPr>
      </p:pic>
      <p:sp>
        <p:nvSpPr>
          <p:cNvPr id="134" name="Google Shape;134;p14"/>
          <p:cNvSpPr txBox="1"/>
          <p:nvPr/>
        </p:nvSpPr>
        <p:spPr>
          <a:xfrm>
            <a:off x="5315585" y="4559905"/>
            <a:ext cx="3000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GB" sz="900">
                <a:solidFill>
                  <a:srgbClr val="980000"/>
                </a:solidFill>
                <a:highlight>
                  <a:srgbClr val="FFFFFF"/>
                </a:highlight>
                <a:latin typeface="Roboto"/>
                <a:ea typeface="Roboto"/>
                <a:cs typeface="Roboto"/>
                <a:sym typeface="Roboto"/>
              </a:rPr>
              <a:t>ACS Nano</a:t>
            </a:r>
            <a:r>
              <a:rPr b="1" lang="en-GB" sz="900">
                <a:solidFill>
                  <a:srgbClr val="980000"/>
                </a:solidFill>
                <a:highlight>
                  <a:srgbClr val="FFFFFF"/>
                </a:highlight>
                <a:latin typeface="Roboto"/>
                <a:ea typeface="Roboto"/>
                <a:cs typeface="Roboto"/>
                <a:sym typeface="Roboto"/>
              </a:rPr>
              <a:t> 2021, 15, 4, 5775-5780</a:t>
            </a:r>
            <a:endParaRPr b="1" sz="800">
              <a:solidFill>
                <a:srgbClr val="980000"/>
              </a:solidFill>
            </a:endParaRPr>
          </a:p>
        </p:txBody>
      </p:sp>
      <p:sp>
        <p:nvSpPr>
          <p:cNvPr id="135" name="Google Shape;135;p14"/>
          <p:cNvSpPr txBox="1"/>
          <p:nvPr/>
        </p:nvSpPr>
        <p:spPr>
          <a:xfrm>
            <a:off x="5315575" y="1783675"/>
            <a:ext cx="30000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GB" sz="1100"/>
              <a:t>&gt;4,000 possible structures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727650" y="6626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Why MXenes?</a:t>
            </a:r>
            <a:endParaRPr/>
          </a:p>
        </p:txBody>
      </p:sp>
      <p:sp>
        <p:nvSpPr>
          <p:cNvPr id="141" name="Google Shape;141;p15"/>
          <p:cNvSpPr txBox="1"/>
          <p:nvPr>
            <p:ph idx="1" type="body"/>
          </p:nvPr>
        </p:nvSpPr>
        <p:spPr>
          <a:xfrm>
            <a:off x="610925" y="1567825"/>
            <a:ext cx="4582500" cy="3283200"/>
          </a:xfrm>
          <a:prstGeom prst="rect">
            <a:avLst/>
          </a:prstGeom>
        </p:spPr>
        <p:txBody>
          <a:bodyPr anchorCtr="0" anchor="ctr" bIns="91425" lIns="91425" spcFirstLastPara="1" rIns="91425" wrap="square" tIns="91425">
            <a:normAutofit/>
          </a:bodyPr>
          <a:lstStyle/>
          <a:p>
            <a:pPr indent="-304800" lvl="0" marL="457200" rtl="0" algn="l">
              <a:spcBef>
                <a:spcPts val="0"/>
              </a:spcBef>
              <a:spcAft>
                <a:spcPts val="0"/>
              </a:spcAft>
              <a:buClr>
                <a:srgbClr val="000000"/>
              </a:buClr>
              <a:buSzPts val="1200"/>
              <a:buFont typeface="Arial"/>
              <a:buChar char="●"/>
            </a:pPr>
            <a:r>
              <a:rPr b="1" lang="en-GB" sz="1200">
                <a:solidFill>
                  <a:srgbClr val="000000"/>
                </a:solidFill>
                <a:latin typeface="Arial"/>
                <a:ea typeface="Arial"/>
                <a:cs typeface="Arial"/>
                <a:sym typeface="Arial"/>
              </a:rPr>
              <a:t>Growing research interest</a:t>
            </a:r>
            <a:r>
              <a:rPr lang="en-GB" sz="1200">
                <a:solidFill>
                  <a:srgbClr val="000000"/>
                </a:solidFill>
                <a:latin typeface="Arial"/>
                <a:ea typeface="Arial"/>
                <a:cs typeface="Arial"/>
                <a:sym typeface="Arial"/>
              </a:rPr>
              <a:t>: many publications since discovery in 2011.</a:t>
            </a:r>
            <a:br>
              <a:rPr lang="en-GB" sz="1200">
                <a:solidFill>
                  <a:srgbClr val="000000"/>
                </a:solidFill>
                <a:latin typeface="Arial"/>
                <a:ea typeface="Arial"/>
                <a:cs typeface="Arial"/>
                <a:sym typeface="Arial"/>
              </a:rPr>
            </a:b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b="1" lang="en-GB" sz="1200">
                <a:solidFill>
                  <a:srgbClr val="000000"/>
                </a:solidFill>
                <a:latin typeface="Arial"/>
                <a:ea typeface="Arial"/>
                <a:cs typeface="Arial"/>
                <a:sym typeface="Arial"/>
              </a:rPr>
              <a:t>Unique structure</a:t>
            </a:r>
            <a:r>
              <a:rPr lang="en-GB" sz="1200">
                <a:solidFill>
                  <a:srgbClr val="000000"/>
                </a:solidFill>
                <a:latin typeface="Arial"/>
                <a:ea typeface="Arial"/>
                <a:cs typeface="Arial"/>
                <a:sym typeface="Arial"/>
              </a:rPr>
              <a:t>: 2D transition metal carbides/nitrides with high surface area.</a:t>
            </a:r>
            <a:br>
              <a:rPr lang="en-GB" sz="1200">
                <a:solidFill>
                  <a:srgbClr val="000000"/>
                </a:solidFill>
                <a:latin typeface="Arial"/>
                <a:ea typeface="Arial"/>
                <a:cs typeface="Arial"/>
                <a:sym typeface="Arial"/>
              </a:rPr>
            </a:b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b="1" lang="en-GB" sz="1200">
                <a:solidFill>
                  <a:srgbClr val="000000"/>
                </a:solidFill>
                <a:latin typeface="Arial"/>
                <a:ea typeface="Arial"/>
                <a:cs typeface="Arial"/>
                <a:sym typeface="Arial"/>
              </a:rPr>
              <a:t>Versatile properties</a:t>
            </a:r>
            <a:r>
              <a:rPr lang="en-GB" sz="1200">
                <a:solidFill>
                  <a:srgbClr val="000000"/>
                </a:solidFill>
                <a:latin typeface="Arial"/>
                <a:ea typeface="Arial"/>
                <a:cs typeface="Arial"/>
                <a:sym typeface="Arial"/>
              </a:rPr>
              <a:t>: conductivity, hydrophilicity, surface functionalization.</a:t>
            </a:r>
            <a:br>
              <a:rPr lang="en-GB" sz="1200">
                <a:solidFill>
                  <a:srgbClr val="000000"/>
                </a:solidFill>
                <a:latin typeface="Arial"/>
                <a:ea typeface="Arial"/>
                <a:cs typeface="Arial"/>
                <a:sym typeface="Arial"/>
              </a:rPr>
            </a:b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b="1" lang="en-GB" sz="1200">
                <a:solidFill>
                  <a:srgbClr val="000000"/>
                </a:solidFill>
                <a:latin typeface="Arial"/>
                <a:ea typeface="Arial"/>
                <a:cs typeface="Arial"/>
                <a:sym typeface="Arial"/>
              </a:rPr>
              <a:t>Real applications</a:t>
            </a:r>
            <a:r>
              <a:rPr lang="en-GB" sz="1200">
                <a:solidFill>
                  <a:srgbClr val="000000"/>
                </a:solidFill>
                <a:latin typeface="Arial"/>
                <a:ea typeface="Arial"/>
                <a:cs typeface="Arial"/>
                <a:sym typeface="Arial"/>
              </a:rPr>
              <a:t>: energy storage, electronics, environment, catalysis, biomedical.</a:t>
            </a:r>
            <a:endParaRPr sz="1400"/>
          </a:p>
        </p:txBody>
      </p:sp>
      <p:pic>
        <p:nvPicPr>
          <p:cNvPr id="142" name="Google Shape;142;p15"/>
          <p:cNvPicPr preferRelativeResize="0"/>
          <p:nvPr/>
        </p:nvPicPr>
        <p:blipFill>
          <a:blip r:embed="rId3">
            <a:alphaModFix/>
          </a:blip>
          <a:stretch>
            <a:fillRect/>
          </a:stretch>
        </p:blipFill>
        <p:spPr>
          <a:xfrm>
            <a:off x="5341245" y="1640938"/>
            <a:ext cx="3047524" cy="3047524"/>
          </a:xfrm>
          <a:prstGeom prst="rect">
            <a:avLst/>
          </a:prstGeom>
          <a:noFill/>
          <a:ln>
            <a:noFill/>
          </a:ln>
        </p:spPr>
      </p:pic>
      <p:sp>
        <p:nvSpPr>
          <p:cNvPr id="143" name="Google Shape;143;p15"/>
          <p:cNvSpPr txBox="1"/>
          <p:nvPr/>
        </p:nvSpPr>
        <p:spPr>
          <a:xfrm>
            <a:off x="5192195" y="4688450"/>
            <a:ext cx="3345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500"/>
              <a:t>Src:</a:t>
            </a:r>
            <a:r>
              <a:rPr lang="en-GB" sz="500" u="sng">
                <a:solidFill>
                  <a:schemeClr val="hlink"/>
                </a:solidFill>
                <a:latin typeface="Lato"/>
                <a:ea typeface="Lato"/>
                <a:cs typeface="Lato"/>
                <a:sym typeface="Lato"/>
                <a:hlinkClick r:id="rId4"/>
              </a:rPr>
              <a:t>https://www.sigmaaldrich.com/EG/en/technical-documents/technical-article/materials-science-and-engineering/organic-electronics/mxenes?srsltid=AfmBOoqipPHrhC-d25nhr2PCKAzTuluRurbxbR6JRbOvx7EBL8lQoWXz</a:t>
            </a:r>
            <a:endParaRPr sz="500">
              <a:solidFill>
                <a:schemeClr val="accent1"/>
              </a:solidFill>
              <a:latin typeface="Lato"/>
              <a:ea typeface="Lato"/>
              <a:cs typeface="Lato"/>
              <a:sym typeface="Lato"/>
            </a:endParaRPr>
          </a:p>
        </p:txBody>
      </p:sp>
      <p:sp>
        <p:nvSpPr>
          <p:cNvPr id="144" name="Google Shape;144;p1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6"/>
          <p:cNvSpPr txBox="1"/>
          <p:nvPr>
            <p:ph type="title"/>
          </p:nvPr>
        </p:nvSpPr>
        <p:spPr>
          <a:xfrm>
            <a:off x="729450" y="662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Hypothesis &amp; Aim</a:t>
            </a:r>
            <a:endParaRPr/>
          </a:p>
        </p:txBody>
      </p:sp>
      <p:sp>
        <p:nvSpPr>
          <p:cNvPr id="150" name="Google Shape;150;p1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51" name="Google Shape;151;p16"/>
          <p:cNvSpPr txBox="1"/>
          <p:nvPr/>
        </p:nvSpPr>
        <p:spPr>
          <a:xfrm>
            <a:off x="729450" y="1417650"/>
            <a:ext cx="3065700" cy="369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GB" sz="1200"/>
              <a:t>Hypothesis</a:t>
            </a:r>
            <a:endParaRPr b="1" sz="1200"/>
          </a:p>
          <a:p>
            <a:pPr indent="-292100" lvl="0" marL="457200" rtl="0" algn="l">
              <a:lnSpc>
                <a:spcPct val="115000"/>
              </a:lnSpc>
              <a:spcBef>
                <a:spcPts val="1200"/>
              </a:spcBef>
              <a:spcAft>
                <a:spcPts val="0"/>
              </a:spcAft>
              <a:buSzPts val="1000"/>
              <a:buChar char="●"/>
            </a:pPr>
            <a:r>
              <a:rPr lang="en-GB" sz="1000"/>
              <a:t>MXenes trigger </a:t>
            </a:r>
            <a:r>
              <a:rPr b="1" lang="en-GB" sz="1000"/>
              <a:t>mechanism-specific gene expression programs</a:t>
            </a:r>
            <a:r>
              <a:rPr lang="en-GB" sz="1000"/>
              <a:t> that can be organized within the </a:t>
            </a:r>
            <a:r>
              <a:rPr b="1" lang="en-GB" sz="1000"/>
              <a:t>AOP framework</a:t>
            </a:r>
            <a:r>
              <a:rPr lang="en-GB" sz="1000"/>
              <a:t>. By integrating </a:t>
            </a:r>
            <a:r>
              <a:rPr b="1" lang="en-GB" sz="1000"/>
              <a:t>RNA-seq DEGs</a:t>
            </a:r>
            <a:r>
              <a:rPr lang="en-GB" sz="1000"/>
              <a:t> with </a:t>
            </a:r>
            <a:r>
              <a:rPr b="1" lang="en-GB" sz="1000"/>
              <a:t>literature-extracted gene sets</a:t>
            </a:r>
            <a:r>
              <a:rPr lang="en-GB" sz="1000"/>
              <a:t>, we can reveal </a:t>
            </a:r>
            <a:r>
              <a:rPr b="1" lang="en-GB" sz="1000"/>
              <a:t>key events (KEs)</a:t>
            </a:r>
            <a:r>
              <a:rPr lang="en-GB" sz="1000"/>
              <a:t> and </a:t>
            </a:r>
            <a:r>
              <a:rPr b="1" lang="en-GB" sz="1000"/>
              <a:t>plausible paths</a:t>
            </a:r>
            <a:r>
              <a:rPr lang="en-GB" sz="1000"/>
              <a:t> leading to </a:t>
            </a:r>
            <a:r>
              <a:rPr b="1" lang="en-GB" sz="1000"/>
              <a:t>adverse outcomes (AOs)</a:t>
            </a:r>
            <a:r>
              <a:rPr lang="en-GB" sz="1000"/>
              <a:t>—and compare them </a:t>
            </a:r>
            <a:r>
              <a:rPr b="1" lang="en-GB" sz="1000"/>
              <a:t>across MXenes</a:t>
            </a:r>
            <a:r>
              <a:rPr lang="en-GB" sz="1000"/>
              <a:t>.</a:t>
            </a:r>
            <a:endParaRPr b="1" sz="1000"/>
          </a:p>
          <a:p>
            <a:pPr indent="0" lvl="0" marL="0" rtl="0" algn="l">
              <a:lnSpc>
                <a:spcPct val="115000"/>
              </a:lnSpc>
              <a:spcBef>
                <a:spcPts val="1200"/>
              </a:spcBef>
              <a:spcAft>
                <a:spcPts val="0"/>
              </a:spcAft>
              <a:buNone/>
            </a:pPr>
            <a:r>
              <a:rPr b="1" lang="en-GB" sz="1200"/>
              <a:t>Aim of the Study</a:t>
            </a:r>
            <a:endParaRPr b="1" sz="1200"/>
          </a:p>
          <a:p>
            <a:pPr indent="-292100" lvl="0" marL="457200" rtl="0" algn="l">
              <a:lnSpc>
                <a:spcPct val="115000"/>
              </a:lnSpc>
              <a:spcBef>
                <a:spcPts val="1200"/>
              </a:spcBef>
              <a:spcAft>
                <a:spcPts val="0"/>
              </a:spcAft>
              <a:buSzPts val="1000"/>
              <a:buChar char="●"/>
            </a:pPr>
            <a:r>
              <a:rPr lang="en-GB" sz="1000"/>
              <a:t>Map MXene-induced molecular changes to </a:t>
            </a:r>
            <a:r>
              <a:rPr b="1" lang="en-GB" sz="1000"/>
              <a:t>AOP KEs/AOs</a:t>
            </a:r>
            <a:r>
              <a:rPr lang="en-GB" sz="1000"/>
              <a:t> by combining </a:t>
            </a:r>
            <a:r>
              <a:rPr b="1" lang="en-GB" sz="1000"/>
              <a:t>omics</a:t>
            </a:r>
            <a:r>
              <a:rPr lang="en-GB" sz="1000"/>
              <a:t> and </a:t>
            </a:r>
            <a:r>
              <a:rPr b="1" lang="en-GB" sz="1000"/>
              <a:t>literature</a:t>
            </a:r>
            <a:r>
              <a:rPr lang="en-GB" sz="1000"/>
              <a:t> evidence, and identify </a:t>
            </a:r>
            <a:r>
              <a:rPr b="1" lang="en-GB" sz="1000"/>
              <a:t>shared vs. material-specific mechanisms</a:t>
            </a:r>
            <a:r>
              <a:rPr lang="en-GB" sz="1000"/>
              <a:t>.</a:t>
            </a:r>
            <a:endParaRPr sz="1000"/>
          </a:p>
          <a:p>
            <a:pPr indent="0" lvl="0" marL="0" rtl="0" algn="l">
              <a:lnSpc>
                <a:spcPct val="115000"/>
              </a:lnSpc>
              <a:spcBef>
                <a:spcPts val="1200"/>
              </a:spcBef>
              <a:spcAft>
                <a:spcPts val="1200"/>
              </a:spcAft>
              <a:buNone/>
            </a:pPr>
            <a:r>
              <a:t/>
            </a:r>
            <a:endParaRPr sz="1100"/>
          </a:p>
        </p:txBody>
      </p:sp>
      <p:pic>
        <p:nvPicPr>
          <p:cNvPr id="152" name="Google Shape;152;p16"/>
          <p:cNvPicPr preferRelativeResize="0"/>
          <p:nvPr/>
        </p:nvPicPr>
        <p:blipFill>
          <a:blip r:embed="rId3">
            <a:alphaModFix/>
          </a:blip>
          <a:stretch>
            <a:fillRect/>
          </a:stretch>
        </p:blipFill>
        <p:spPr>
          <a:xfrm>
            <a:off x="3895075" y="1769550"/>
            <a:ext cx="5068526" cy="3110399"/>
          </a:xfrm>
          <a:prstGeom prst="rect">
            <a:avLst/>
          </a:prstGeom>
          <a:noFill/>
          <a:ln>
            <a:noFill/>
          </a:ln>
        </p:spPr>
      </p:pic>
      <p:sp>
        <p:nvSpPr>
          <p:cNvPr id="153" name="Google Shape;153;p16"/>
          <p:cNvSpPr txBox="1"/>
          <p:nvPr/>
        </p:nvSpPr>
        <p:spPr>
          <a:xfrm>
            <a:off x="5464525" y="2455116"/>
            <a:ext cx="598200" cy="14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800">
                <a:solidFill>
                  <a:srgbClr val="0B713F"/>
                </a:solidFill>
                <a:latin typeface="Lato"/>
                <a:ea typeface="Lato"/>
                <a:cs typeface="Lato"/>
                <a:sym typeface="Lato"/>
              </a:rPr>
              <a:t>AB, ABC</a:t>
            </a:r>
            <a:endParaRPr b="1" sz="800">
              <a:solidFill>
                <a:srgbClr val="0B713F"/>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7"/>
          <p:cNvSpPr txBox="1"/>
          <p:nvPr>
            <p:ph type="title"/>
          </p:nvPr>
        </p:nvSpPr>
        <p:spPr>
          <a:xfrm>
            <a:off x="727650" y="6533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Sources &amp; Curation</a:t>
            </a:r>
            <a:endParaRPr/>
          </a:p>
        </p:txBody>
      </p:sp>
      <p:sp>
        <p:nvSpPr>
          <p:cNvPr id="159" name="Google Shape;159;p1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60" name="Google Shape;160;p17"/>
          <p:cNvPicPr preferRelativeResize="0"/>
          <p:nvPr/>
        </p:nvPicPr>
        <p:blipFill>
          <a:blip r:embed="rId3">
            <a:alphaModFix/>
          </a:blip>
          <a:stretch>
            <a:fillRect/>
          </a:stretch>
        </p:blipFill>
        <p:spPr>
          <a:xfrm>
            <a:off x="5049577" y="3233265"/>
            <a:ext cx="3079993" cy="1371025"/>
          </a:xfrm>
          <a:prstGeom prst="rect">
            <a:avLst/>
          </a:prstGeom>
          <a:noFill/>
          <a:ln cap="flat" cmpd="sng" w="9525">
            <a:solidFill>
              <a:srgbClr val="666666"/>
            </a:solidFill>
            <a:prstDash val="solid"/>
            <a:round/>
            <a:headEnd len="sm" w="sm" type="none"/>
            <a:tailEnd len="sm" w="sm" type="none"/>
          </a:ln>
        </p:spPr>
      </p:pic>
      <p:pic>
        <p:nvPicPr>
          <p:cNvPr id="161" name="Google Shape;161;p17"/>
          <p:cNvPicPr preferRelativeResize="0"/>
          <p:nvPr/>
        </p:nvPicPr>
        <p:blipFill rotWithShape="1">
          <a:blip r:embed="rId4">
            <a:alphaModFix/>
          </a:blip>
          <a:srcRect b="81932" l="52817" r="0" t="3589"/>
          <a:stretch/>
        </p:blipFill>
        <p:spPr>
          <a:xfrm>
            <a:off x="811468" y="2339279"/>
            <a:ext cx="2867860" cy="570960"/>
          </a:xfrm>
          <a:prstGeom prst="rect">
            <a:avLst/>
          </a:prstGeom>
          <a:noFill/>
          <a:ln cap="flat" cmpd="sng" w="11125">
            <a:solidFill>
              <a:srgbClr val="666666"/>
            </a:solidFill>
            <a:prstDash val="solid"/>
            <a:round/>
            <a:headEnd len="sm" w="sm" type="none"/>
            <a:tailEnd len="sm" w="sm" type="none"/>
          </a:ln>
        </p:spPr>
      </p:pic>
      <p:sp>
        <p:nvSpPr>
          <p:cNvPr id="162" name="Google Shape;162;p17"/>
          <p:cNvSpPr/>
          <p:nvPr/>
        </p:nvSpPr>
        <p:spPr>
          <a:xfrm>
            <a:off x="3778219" y="1990700"/>
            <a:ext cx="1124100" cy="2379300"/>
          </a:xfrm>
          <a:prstGeom prst="rightArrowCallout">
            <a:avLst>
              <a:gd fmla="val 25000" name="adj1"/>
              <a:gd fmla="val 25000" name="adj2"/>
              <a:gd fmla="val 25000" name="adj3"/>
              <a:gd fmla="val 64977" name="adj4"/>
            </a:avLst>
          </a:prstGeom>
          <a:solidFill>
            <a:schemeClr val="lt2"/>
          </a:solidFill>
          <a:ln cap="flat" cmpd="sng" w="11125">
            <a:solidFill>
              <a:srgbClr val="666666"/>
            </a:solidFill>
            <a:prstDash val="solid"/>
            <a:round/>
            <a:headEnd len="sm" w="sm" type="none"/>
            <a:tailEnd len="sm" w="sm" type="none"/>
          </a:ln>
        </p:spPr>
        <p:txBody>
          <a:bodyPr anchorCtr="0" anchor="ctr" bIns="106875" lIns="106875" spcFirstLastPara="1" rIns="106875" wrap="square" tIns="106875">
            <a:noAutofit/>
          </a:bodyPr>
          <a:lstStyle/>
          <a:p>
            <a:pPr indent="0" lvl="0" marL="0" rtl="0" algn="ctr">
              <a:spcBef>
                <a:spcPts val="0"/>
              </a:spcBef>
              <a:spcAft>
                <a:spcPts val="0"/>
              </a:spcAft>
              <a:buNone/>
            </a:pPr>
            <a:r>
              <a:t/>
            </a:r>
            <a:endParaRPr sz="1637">
              <a:latin typeface="Lato"/>
              <a:ea typeface="Lato"/>
              <a:cs typeface="Lato"/>
              <a:sym typeface="Lato"/>
            </a:endParaRPr>
          </a:p>
        </p:txBody>
      </p:sp>
      <p:pic>
        <p:nvPicPr>
          <p:cNvPr id="163" name="Google Shape;163;p17"/>
          <p:cNvPicPr preferRelativeResize="0"/>
          <p:nvPr/>
        </p:nvPicPr>
        <p:blipFill>
          <a:blip r:embed="rId5">
            <a:alphaModFix/>
          </a:blip>
          <a:stretch>
            <a:fillRect/>
          </a:stretch>
        </p:blipFill>
        <p:spPr>
          <a:xfrm>
            <a:off x="811452" y="3598851"/>
            <a:ext cx="2867864" cy="579366"/>
          </a:xfrm>
          <a:prstGeom prst="rect">
            <a:avLst/>
          </a:prstGeom>
          <a:noFill/>
          <a:ln cap="flat" cmpd="sng" w="11125">
            <a:solidFill>
              <a:srgbClr val="666666"/>
            </a:solidFill>
            <a:prstDash val="solid"/>
            <a:round/>
            <a:headEnd len="sm" w="sm" type="none"/>
            <a:tailEnd len="sm" w="sm" type="none"/>
          </a:ln>
        </p:spPr>
      </p:pic>
      <p:sp>
        <p:nvSpPr>
          <p:cNvPr id="164" name="Google Shape;164;p17"/>
          <p:cNvSpPr txBox="1"/>
          <p:nvPr/>
        </p:nvSpPr>
        <p:spPr>
          <a:xfrm>
            <a:off x="3778219" y="2426782"/>
            <a:ext cx="683400" cy="395700"/>
          </a:xfrm>
          <a:prstGeom prst="rect">
            <a:avLst/>
          </a:prstGeom>
          <a:noFill/>
          <a:ln>
            <a:noFill/>
          </a:ln>
        </p:spPr>
        <p:txBody>
          <a:bodyPr anchorCtr="0" anchor="t" bIns="106875" lIns="106875" spcFirstLastPara="1" rIns="106875" wrap="square" tIns="106875">
            <a:spAutoFit/>
          </a:bodyPr>
          <a:lstStyle/>
          <a:p>
            <a:pPr indent="0" lvl="0" marL="0" rtl="0" algn="ctr">
              <a:spcBef>
                <a:spcPts val="0"/>
              </a:spcBef>
              <a:spcAft>
                <a:spcPts val="0"/>
              </a:spcAft>
              <a:buNone/>
            </a:pPr>
            <a:r>
              <a:rPr lang="en-GB" sz="1169" u="sng">
                <a:solidFill>
                  <a:schemeClr val="hlink"/>
                </a:solidFill>
                <a:hlinkClick r:id="rId6"/>
              </a:rPr>
              <a:t>URL1</a:t>
            </a:r>
            <a:r>
              <a:rPr lang="en-GB" sz="1169"/>
              <a:t> </a:t>
            </a:r>
            <a:endParaRPr sz="1169"/>
          </a:p>
        </p:txBody>
      </p:sp>
      <p:sp>
        <p:nvSpPr>
          <p:cNvPr id="165" name="Google Shape;165;p17"/>
          <p:cNvSpPr txBox="1"/>
          <p:nvPr/>
        </p:nvSpPr>
        <p:spPr>
          <a:xfrm>
            <a:off x="811497" y="1990700"/>
            <a:ext cx="2867700" cy="341700"/>
          </a:xfrm>
          <a:prstGeom prst="rect">
            <a:avLst/>
          </a:prstGeom>
          <a:noFill/>
          <a:ln>
            <a:noFill/>
          </a:ln>
        </p:spPr>
        <p:txBody>
          <a:bodyPr anchorCtr="0" anchor="t" bIns="106875" lIns="106875" spcFirstLastPara="1" rIns="106875" wrap="square" tIns="106875">
            <a:spAutoFit/>
          </a:bodyPr>
          <a:lstStyle/>
          <a:p>
            <a:pPr indent="0" lvl="0" marL="0" rtl="0" algn="ctr">
              <a:spcBef>
                <a:spcPts val="0"/>
              </a:spcBef>
              <a:spcAft>
                <a:spcPts val="0"/>
              </a:spcAft>
              <a:buNone/>
            </a:pPr>
            <a:r>
              <a:rPr lang="en-GB" sz="818" u="sng">
                <a:solidFill>
                  <a:schemeClr val="hlink"/>
                </a:solidFill>
                <a:hlinkClick r:id="rId7"/>
              </a:rPr>
              <a:t>https://pubmed-cheminsight.edelweissconnect.com/</a:t>
            </a:r>
            <a:r>
              <a:rPr lang="en-GB" sz="818"/>
              <a:t> </a:t>
            </a:r>
            <a:endParaRPr sz="1169"/>
          </a:p>
        </p:txBody>
      </p:sp>
      <p:sp>
        <p:nvSpPr>
          <p:cNvPr id="166" name="Google Shape;166;p17"/>
          <p:cNvSpPr txBox="1"/>
          <p:nvPr/>
        </p:nvSpPr>
        <p:spPr>
          <a:xfrm>
            <a:off x="824085" y="3250079"/>
            <a:ext cx="2867700" cy="341700"/>
          </a:xfrm>
          <a:prstGeom prst="rect">
            <a:avLst/>
          </a:prstGeom>
          <a:noFill/>
          <a:ln>
            <a:noFill/>
          </a:ln>
        </p:spPr>
        <p:txBody>
          <a:bodyPr anchorCtr="0" anchor="t" bIns="106875" lIns="106875" spcFirstLastPara="1" rIns="106875" wrap="square" tIns="106875">
            <a:spAutoFit/>
          </a:bodyPr>
          <a:lstStyle/>
          <a:p>
            <a:pPr indent="0" lvl="0" marL="0" rtl="0" algn="ctr">
              <a:spcBef>
                <a:spcPts val="0"/>
              </a:spcBef>
              <a:spcAft>
                <a:spcPts val="0"/>
              </a:spcAft>
              <a:buNone/>
            </a:pPr>
            <a:r>
              <a:rPr lang="en-GB" sz="818" u="sng"/>
              <a:t>Under </a:t>
            </a:r>
            <a:r>
              <a:rPr lang="en-GB" sz="818" u="sng"/>
              <a:t>Development</a:t>
            </a:r>
            <a:endParaRPr sz="1169" u="sng"/>
          </a:p>
        </p:txBody>
      </p:sp>
      <p:sp>
        <p:nvSpPr>
          <p:cNvPr id="167" name="Google Shape;167;p17"/>
          <p:cNvSpPr txBox="1"/>
          <p:nvPr/>
        </p:nvSpPr>
        <p:spPr>
          <a:xfrm>
            <a:off x="3778219" y="3654627"/>
            <a:ext cx="641400" cy="395700"/>
          </a:xfrm>
          <a:prstGeom prst="rect">
            <a:avLst/>
          </a:prstGeom>
          <a:noFill/>
          <a:ln>
            <a:noFill/>
          </a:ln>
        </p:spPr>
        <p:txBody>
          <a:bodyPr anchorCtr="0" anchor="t" bIns="106875" lIns="106875" spcFirstLastPara="1" rIns="106875" wrap="square" tIns="106875">
            <a:spAutoFit/>
          </a:bodyPr>
          <a:lstStyle/>
          <a:p>
            <a:pPr indent="0" lvl="0" marL="0" rtl="0" algn="ctr">
              <a:spcBef>
                <a:spcPts val="0"/>
              </a:spcBef>
              <a:spcAft>
                <a:spcPts val="0"/>
              </a:spcAft>
              <a:buNone/>
            </a:pPr>
            <a:r>
              <a:rPr lang="en-GB" sz="1169" u="sng">
                <a:solidFill>
                  <a:schemeClr val="hlink"/>
                </a:solidFill>
                <a:hlinkClick r:id="rId8"/>
              </a:rPr>
              <a:t>URL2</a:t>
            </a:r>
            <a:r>
              <a:rPr lang="en-GB" sz="1169"/>
              <a:t> </a:t>
            </a:r>
            <a:endParaRPr sz="1169"/>
          </a:p>
        </p:txBody>
      </p:sp>
      <p:pic>
        <p:nvPicPr>
          <p:cNvPr id="168" name="Google Shape;168;p17"/>
          <p:cNvPicPr preferRelativeResize="0"/>
          <p:nvPr/>
        </p:nvPicPr>
        <p:blipFill>
          <a:blip r:embed="rId9">
            <a:alphaModFix/>
          </a:blip>
          <a:stretch>
            <a:fillRect/>
          </a:stretch>
        </p:blipFill>
        <p:spPr>
          <a:xfrm>
            <a:off x="5049577" y="1756424"/>
            <a:ext cx="3080003" cy="1388107"/>
          </a:xfrm>
          <a:prstGeom prst="rect">
            <a:avLst/>
          </a:prstGeom>
          <a:noFill/>
          <a:ln cap="flat" cmpd="sng" w="9525">
            <a:solidFill>
              <a:srgbClr val="666666"/>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type="title"/>
          </p:nvPr>
        </p:nvSpPr>
        <p:spPr>
          <a:xfrm>
            <a:off x="682750" y="6648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Summary of Collected &amp; Selected Datasets</a:t>
            </a:r>
            <a:endParaRPr/>
          </a:p>
        </p:txBody>
      </p:sp>
      <p:sp>
        <p:nvSpPr>
          <p:cNvPr id="174" name="Google Shape;174;p18"/>
          <p:cNvSpPr txBox="1"/>
          <p:nvPr>
            <p:ph idx="1" type="body"/>
          </p:nvPr>
        </p:nvSpPr>
        <p:spPr>
          <a:xfrm>
            <a:off x="729450" y="1532766"/>
            <a:ext cx="3688500" cy="3373500"/>
          </a:xfrm>
          <a:prstGeom prst="rect">
            <a:avLst/>
          </a:prstGeom>
        </p:spPr>
        <p:txBody>
          <a:bodyPr anchorCtr="0" anchor="ctr" bIns="91425" lIns="91425" spcFirstLastPara="1" rIns="91425" wrap="square" tIns="91425">
            <a:normAutofit fontScale="70000" lnSpcReduction="20000"/>
          </a:bodyPr>
          <a:lstStyle/>
          <a:p>
            <a:pPr indent="0" lvl="0" marL="0" rtl="0" algn="l">
              <a:spcBef>
                <a:spcPts val="0"/>
              </a:spcBef>
              <a:spcAft>
                <a:spcPts val="0"/>
              </a:spcAft>
              <a:buNone/>
            </a:pPr>
            <a:r>
              <a:rPr lang="en-GB" sz="1800">
                <a:solidFill>
                  <a:srgbClr val="000000"/>
                </a:solidFill>
                <a:latin typeface="Arial"/>
                <a:ea typeface="Arial"/>
                <a:cs typeface="Arial"/>
                <a:sym typeface="Arial"/>
              </a:rPr>
              <a:t>📊 Coverage: 5 data sources</a:t>
            </a:r>
            <a:br>
              <a:rPr lang="en-GB" sz="1800">
                <a:solidFill>
                  <a:srgbClr val="000000"/>
                </a:solidFill>
                <a:latin typeface="Arial"/>
                <a:ea typeface="Arial"/>
                <a:cs typeface="Arial"/>
                <a:sym typeface="Arial"/>
              </a:rPr>
            </a:br>
            <a:r>
              <a:rPr lang="en-GB" sz="1800">
                <a:solidFill>
                  <a:srgbClr val="000000"/>
                </a:solidFill>
                <a:latin typeface="Calibri"/>
                <a:ea typeface="Calibri"/>
                <a:cs typeface="Calibri"/>
                <a:sym typeface="Calibri"/>
              </a:rPr>
              <a:t> - </a:t>
            </a:r>
            <a:r>
              <a:rPr lang="en-GB" sz="1800">
                <a:solidFill>
                  <a:srgbClr val="000000"/>
                </a:solidFill>
                <a:highlight>
                  <a:srgbClr val="D9EAD3"/>
                </a:highlight>
                <a:latin typeface="Calibri"/>
                <a:ea typeface="Calibri"/>
                <a:cs typeface="Calibri"/>
                <a:sym typeface="Calibri"/>
              </a:rPr>
              <a:t>1 Public (GSE200036) with no reference paper</a:t>
            </a:r>
            <a:br>
              <a:rPr lang="en-GB" sz="1800">
                <a:solidFill>
                  <a:srgbClr val="000000"/>
                </a:solidFill>
                <a:latin typeface="Calibri"/>
                <a:ea typeface="Calibri"/>
                <a:cs typeface="Calibri"/>
                <a:sym typeface="Calibri"/>
              </a:rPr>
            </a:br>
            <a:r>
              <a:rPr lang="en-GB" sz="1800">
                <a:solidFill>
                  <a:srgbClr val="000000"/>
                </a:solidFill>
                <a:latin typeface="Calibri"/>
                <a:ea typeface="Calibri"/>
                <a:cs typeface="Calibri"/>
                <a:sym typeface="Calibri"/>
              </a:rPr>
              <a:t> - </a:t>
            </a:r>
            <a:r>
              <a:rPr lang="en-GB" sz="1800">
                <a:solidFill>
                  <a:srgbClr val="000000"/>
                </a:solidFill>
                <a:highlight>
                  <a:srgbClr val="D9EAD3"/>
                </a:highlight>
                <a:latin typeface="Calibri"/>
                <a:ea typeface="Calibri"/>
                <a:cs typeface="Calibri"/>
                <a:sym typeface="Calibri"/>
              </a:rPr>
              <a:t>4 Paper where datasets are available on request</a:t>
            </a:r>
            <a:endParaRPr sz="1800">
              <a:solidFill>
                <a:srgbClr val="000000"/>
              </a:solidFill>
              <a:highlight>
                <a:srgbClr val="D9EAD3"/>
              </a:highlight>
              <a:latin typeface="Calibri"/>
              <a:ea typeface="Calibri"/>
              <a:cs typeface="Calibri"/>
              <a:sym typeface="Calibri"/>
            </a:endParaRPr>
          </a:p>
          <a:p>
            <a:pPr indent="0" lvl="0" marL="0" rtl="0" algn="l">
              <a:spcBef>
                <a:spcPts val="0"/>
              </a:spcBef>
              <a:spcAft>
                <a:spcPts val="0"/>
              </a:spcAft>
              <a:buNone/>
            </a:pPr>
            <a:br>
              <a:rPr lang="en-GB" sz="1800">
                <a:solidFill>
                  <a:srgbClr val="000000"/>
                </a:solidFill>
                <a:latin typeface="Calibri"/>
                <a:ea typeface="Calibri"/>
                <a:cs typeface="Calibri"/>
                <a:sym typeface="Calibri"/>
              </a:rPr>
            </a:br>
            <a:r>
              <a:rPr lang="en-GB" sz="1800">
                <a:solidFill>
                  <a:srgbClr val="000000"/>
                </a:solidFill>
                <a:latin typeface="Calibri"/>
                <a:ea typeface="Calibri"/>
                <a:cs typeface="Calibri"/>
                <a:sym typeface="Calibri"/>
              </a:rPr>
              <a:t> </a:t>
            </a:r>
            <a:r>
              <a:rPr lang="en-GB" sz="1800">
                <a:solidFill>
                  <a:srgbClr val="000000"/>
                </a:solidFill>
                <a:latin typeface="Arial"/>
                <a:ea typeface="Arial"/>
                <a:cs typeface="Arial"/>
                <a:sym typeface="Arial"/>
              </a:rPr>
              <a:t>🧬 Assay Types</a:t>
            </a:r>
            <a:br>
              <a:rPr lang="en-GB" sz="1800">
                <a:solidFill>
                  <a:srgbClr val="000000"/>
                </a:solidFill>
                <a:latin typeface="Arial"/>
                <a:ea typeface="Arial"/>
                <a:cs typeface="Arial"/>
                <a:sym typeface="Arial"/>
              </a:rPr>
            </a:br>
            <a:r>
              <a:rPr lang="en-GB" sz="1800">
                <a:solidFill>
                  <a:srgbClr val="000000"/>
                </a:solidFill>
                <a:latin typeface="Calibri"/>
                <a:ea typeface="Calibri"/>
                <a:cs typeface="Calibri"/>
                <a:sym typeface="Calibri"/>
              </a:rPr>
              <a:t> - </a:t>
            </a:r>
            <a:r>
              <a:rPr lang="en-GB" sz="1800">
                <a:solidFill>
                  <a:srgbClr val="000000"/>
                </a:solidFill>
                <a:highlight>
                  <a:srgbClr val="D9EAD3"/>
                </a:highlight>
                <a:latin typeface="Calibri"/>
                <a:ea typeface="Calibri"/>
                <a:cs typeface="Calibri"/>
                <a:sym typeface="Calibri"/>
              </a:rPr>
              <a:t>4 RNA-seq</a:t>
            </a:r>
            <a:br>
              <a:rPr lang="en-GB" sz="1800">
                <a:solidFill>
                  <a:srgbClr val="000000"/>
                </a:solidFill>
                <a:latin typeface="Calibri"/>
                <a:ea typeface="Calibri"/>
                <a:cs typeface="Calibri"/>
                <a:sym typeface="Calibri"/>
              </a:rPr>
            </a:br>
            <a:r>
              <a:rPr lang="en-GB" sz="1800">
                <a:solidFill>
                  <a:srgbClr val="000000"/>
                </a:solidFill>
                <a:latin typeface="Calibri"/>
                <a:ea typeface="Calibri"/>
                <a:cs typeface="Calibri"/>
                <a:sym typeface="Calibri"/>
              </a:rPr>
              <a:t> - 1 Spatial transcriptomics</a:t>
            </a:r>
            <a:endParaRPr sz="1800">
              <a:solidFill>
                <a:srgbClr val="000000"/>
              </a:solidFill>
              <a:latin typeface="Calibri"/>
              <a:ea typeface="Calibri"/>
              <a:cs typeface="Calibri"/>
              <a:sym typeface="Calibri"/>
            </a:endParaRPr>
          </a:p>
          <a:p>
            <a:pPr indent="0" lvl="0" marL="0" rtl="0" algn="l">
              <a:spcBef>
                <a:spcPts val="0"/>
              </a:spcBef>
              <a:spcAft>
                <a:spcPts val="0"/>
              </a:spcAft>
              <a:buNone/>
            </a:pPr>
            <a:br>
              <a:rPr lang="en-GB" sz="1800">
                <a:solidFill>
                  <a:srgbClr val="000000"/>
                </a:solidFill>
                <a:latin typeface="Calibri"/>
                <a:ea typeface="Calibri"/>
                <a:cs typeface="Calibri"/>
                <a:sym typeface="Calibri"/>
              </a:rPr>
            </a:br>
            <a:r>
              <a:rPr lang="en-GB" sz="1800">
                <a:solidFill>
                  <a:srgbClr val="000000"/>
                </a:solidFill>
                <a:latin typeface="Calibri"/>
                <a:ea typeface="Calibri"/>
                <a:cs typeface="Calibri"/>
                <a:sym typeface="Calibri"/>
              </a:rPr>
              <a:t> </a:t>
            </a:r>
            <a:r>
              <a:rPr lang="en-GB" sz="1800">
                <a:solidFill>
                  <a:srgbClr val="000000"/>
                </a:solidFill>
                <a:latin typeface="Arial"/>
                <a:ea typeface="Arial"/>
                <a:cs typeface="Arial"/>
                <a:sym typeface="Arial"/>
              </a:rPr>
              <a:t>🧑🐭 Organisms</a:t>
            </a:r>
            <a:br>
              <a:rPr lang="en-GB" sz="1800">
                <a:solidFill>
                  <a:srgbClr val="000000"/>
                </a:solidFill>
                <a:latin typeface="Arial"/>
                <a:ea typeface="Arial"/>
                <a:cs typeface="Arial"/>
                <a:sym typeface="Arial"/>
              </a:rPr>
            </a:br>
            <a:r>
              <a:rPr lang="en-GB" sz="1800">
                <a:solidFill>
                  <a:srgbClr val="000000"/>
                </a:solidFill>
                <a:latin typeface="Calibri"/>
                <a:ea typeface="Calibri"/>
                <a:cs typeface="Calibri"/>
                <a:sym typeface="Calibri"/>
              </a:rPr>
              <a:t> - </a:t>
            </a:r>
            <a:r>
              <a:rPr lang="en-GB" sz="1800">
                <a:solidFill>
                  <a:srgbClr val="000000"/>
                </a:solidFill>
                <a:highlight>
                  <a:srgbClr val="D9EAD3"/>
                </a:highlight>
                <a:latin typeface="Calibri"/>
                <a:ea typeface="Calibri"/>
                <a:cs typeface="Calibri"/>
                <a:sym typeface="Calibri"/>
              </a:rPr>
              <a:t>Human (2)</a:t>
            </a:r>
            <a:br>
              <a:rPr lang="en-GB" sz="1800">
                <a:solidFill>
                  <a:srgbClr val="000000"/>
                </a:solidFill>
                <a:latin typeface="Calibri"/>
                <a:ea typeface="Calibri"/>
                <a:cs typeface="Calibri"/>
                <a:sym typeface="Calibri"/>
              </a:rPr>
            </a:br>
            <a:r>
              <a:rPr lang="en-GB" sz="1800">
                <a:solidFill>
                  <a:srgbClr val="000000"/>
                </a:solidFill>
                <a:latin typeface="Calibri"/>
                <a:ea typeface="Calibri"/>
                <a:cs typeface="Calibri"/>
                <a:sym typeface="Calibri"/>
              </a:rPr>
              <a:t> - Mouse (2)</a:t>
            </a:r>
            <a:br>
              <a:rPr lang="en-GB" sz="1800">
                <a:solidFill>
                  <a:srgbClr val="000000"/>
                </a:solidFill>
                <a:latin typeface="Calibri"/>
                <a:ea typeface="Calibri"/>
                <a:cs typeface="Calibri"/>
                <a:sym typeface="Calibri"/>
              </a:rPr>
            </a:br>
            <a:r>
              <a:rPr lang="en-GB" sz="1800">
                <a:solidFill>
                  <a:srgbClr val="000000"/>
                </a:solidFill>
                <a:latin typeface="Calibri"/>
                <a:ea typeface="Calibri"/>
                <a:cs typeface="Calibri"/>
                <a:sym typeface="Calibri"/>
              </a:rPr>
              <a:t> - </a:t>
            </a:r>
            <a:r>
              <a:rPr lang="en-GB" sz="1800">
                <a:solidFill>
                  <a:srgbClr val="000000"/>
                </a:solidFill>
                <a:highlight>
                  <a:srgbClr val="D9EAD3"/>
                </a:highlight>
                <a:latin typeface="Calibri"/>
                <a:ea typeface="Calibri"/>
                <a:cs typeface="Calibri"/>
                <a:sym typeface="Calibri"/>
              </a:rPr>
              <a:t>Mixed Human+Rat (1)</a:t>
            </a:r>
            <a:endParaRPr sz="1800">
              <a:solidFill>
                <a:srgbClr val="000000"/>
              </a:solidFill>
              <a:highlight>
                <a:srgbClr val="D9EAD3"/>
              </a:highlight>
              <a:latin typeface="Calibri"/>
              <a:ea typeface="Calibri"/>
              <a:cs typeface="Calibri"/>
              <a:sym typeface="Calibri"/>
            </a:endParaRPr>
          </a:p>
          <a:p>
            <a:pPr indent="0" lvl="0" marL="0" rtl="0" algn="l">
              <a:spcBef>
                <a:spcPts val="0"/>
              </a:spcBef>
              <a:spcAft>
                <a:spcPts val="0"/>
              </a:spcAft>
              <a:buNone/>
            </a:pPr>
            <a:br>
              <a:rPr lang="en-GB" sz="1800">
                <a:solidFill>
                  <a:srgbClr val="000000"/>
                </a:solidFill>
                <a:latin typeface="Calibri"/>
                <a:ea typeface="Calibri"/>
                <a:cs typeface="Calibri"/>
                <a:sym typeface="Calibri"/>
              </a:rPr>
            </a:br>
            <a:r>
              <a:rPr lang="en-GB" sz="1800">
                <a:solidFill>
                  <a:srgbClr val="000000"/>
                </a:solidFill>
                <a:latin typeface="Calibri"/>
                <a:ea typeface="Calibri"/>
                <a:cs typeface="Calibri"/>
                <a:sym typeface="Calibri"/>
              </a:rPr>
              <a:t> </a:t>
            </a:r>
            <a:r>
              <a:rPr lang="en-GB" sz="1800">
                <a:solidFill>
                  <a:srgbClr val="000000"/>
                </a:solidFill>
                <a:latin typeface="Arial"/>
                <a:ea typeface="Arial"/>
                <a:cs typeface="Arial"/>
                <a:sym typeface="Arial"/>
              </a:rPr>
              <a:t>⚗️ System/Setting</a:t>
            </a:r>
            <a:br>
              <a:rPr lang="en-GB" sz="1800">
                <a:solidFill>
                  <a:srgbClr val="000000"/>
                </a:solidFill>
                <a:latin typeface="Arial"/>
                <a:ea typeface="Arial"/>
                <a:cs typeface="Arial"/>
                <a:sym typeface="Arial"/>
              </a:rPr>
            </a:br>
            <a:r>
              <a:rPr lang="en-GB" sz="1800">
                <a:solidFill>
                  <a:srgbClr val="000000"/>
                </a:solidFill>
                <a:latin typeface="Calibri"/>
                <a:ea typeface="Calibri"/>
                <a:cs typeface="Calibri"/>
                <a:sym typeface="Calibri"/>
              </a:rPr>
              <a:t> - In vitro (2)</a:t>
            </a:r>
            <a:br>
              <a:rPr lang="en-GB" sz="1800">
                <a:solidFill>
                  <a:srgbClr val="000000"/>
                </a:solidFill>
                <a:latin typeface="Calibri"/>
                <a:ea typeface="Calibri"/>
                <a:cs typeface="Calibri"/>
                <a:sym typeface="Calibri"/>
              </a:rPr>
            </a:br>
            <a:r>
              <a:rPr lang="en-GB" sz="1800">
                <a:solidFill>
                  <a:srgbClr val="000000"/>
                </a:solidFill>
                <a:latin typeface="Calibri"/>
                <a:ea typeface="Calibri"/>
                <a:cs typeface="Calibri"/>
                <a:sym typeface="Calibri"/>
              </a:rPr>
              <a:t> - </a:t>
            </a:r>
            <a:r>
              <a:rPr lang="en-GB" sz="1800">
                <a:solidFill>
                  <a:srgbClr val="000000"/>
                </a:solidFill>
                <a:highlight>
                  <a:srgbClr val="D9EAD3"/>
                </a:highlight>
                <a:latin typeface="Calibri"/>
                <a:ea typeface="Calibri"/>
                <a:cs typeface="Calibri"/>
                <a:sym typeface="Calibri"/>
              </a:rPr>
              <a:t>In vivo (2)</a:t>
            </a:r>
            <a:br>
              <a:rPr lang="en-GB" sz="1800">
                <a:solidFill>
                  <a:srgbClr val="000000"/>
                </a:solidFill>
                <a:latin typeface="Calibri"/>
                <a:ea typeface="Calibri"/>
                <a:cs typeface="Calibri"/>
                <a:sym typeface="Calibri"/>
              </a:rPr>
            </a:br>
            <a:r>
              <a:rPr lang="en-GB" sz="1800">
                <a:solidFill>
                  <a:srgbClr val="000000"/>
                </a:solidFill>
                <a:latin typeface="Calibri"/>
                <a:ea typeface="Calibri"/>
                <a:cs typeface="Calibri"/>
                <a:sym typeface="Calibri"/>
              </a:rPr>
              <a:t> - </a:t>
            </a:r>
            <a:r>
              <a:rPr lang="en-GB" sz="1800">
                <a:solidFill>
                  <a:srgbClr val="000000"/>
                </a:solidFill>
                <a:highlight>
                  <a:srgbClr val="D9EAD3"/>
                </a:highlight>
                <a:latin typeface="Calibri"/>
                <a:ea typeface="Calibri"/>
                <a:cs typeface="Calibri"/>
                <a:sym typeface="Calibri"/>
              </a:rPr>
              <a:t>Mixed (1)</a:t>
            </a:r>
            <a:endParaRPr>
              <a:highlight>
                <a:srgbClr val="D9EAD3"/>
              </a:highlight>
            </a:endParaRPr>
          </a:p>
        </p:txBody>
      </p:sp>
      <p:sp>
        <p:nvSpPr>
          <p:cNvPr id="175" name="Google Shape;175;p1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76" name="Google Shape;176;p18"/>
          <p:cNvSpPr txBox="1"/>
          <p:nvPr>
            <p:ph idx="1" type="body"/>
          </p:nvPr>
        </p:nvSpPr>
        <p:spPr>
          <a:xfrm>
            <a:off x="4137223" y="1485975"/>
            <a:ext cx="4859700" cy="3420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sz="1700">
                <a:solidFill>
                  <a:srgbClr val="000000"/>
                </a:solidFill>
                <a:latin typeface="Arial"/>
                <a:ea typeface="Arial"/>
                <a:cs typeface="Arial"/>
                <a:sym typeface="Arial"/>
              </a:rPr>
              <a:t>✨ Selected:</a:t>
            </a:r>
            <a:br>
              <a:rPr lang="en-GB" sz="1700">
                <a:solidFill>
                  <a:srgbClr val="000000"/>
                </a:solidFill>
                <a:latin typeface="Arial"/>
                <a:ea typeface="Arial"/>
                <a:cs typeface="Arial"/>
                <a:sym typeface="Arial"/>
              </a:rPr>
            </a:br>
            <a:r>
              <a:rPr lang="en-GB" sz="1700">
                <a:solidFill>
                  <a:srgbClr val="000000"/>
                </a:solidFill>
                <a:latin typeface="Calibri"/>
                <a:ea typeface="Calibri"/>
                <a:cs typeface="Calibri"/>
                <a:sym typeface="Calibri"/>
              </a:rPr>
              <a:t> - 1 Public dataset (GEO: Ta4C3, Mo2Ti2C3, Nb4C3)</a:t>
            </a:r>
            <a:br>
              <a:rPr lang="en-GB" sz="1700">
                <a:solidFill>
                  <a:srgbClr val="000000"/>
                </a:solidFill>
                <a:latin typeface="Calibri"/>
                <a:ea typeface="Calibri"/>
                <a:cs typeface="Calibri"/>
                <a:sym typeface="Calibri"/>
              </a:rPr>
            </a:br>
            <a:r>
              <a:rPr lang="en-GB" sz="1700">
                <a:solidFill>
                  <a:srgbClr val="000000"/>
                </a:solidFill>
                <a:latin typeface="Calibri"/>
                <a:ea typeface="Calibri"/>
                <a:cs typeface="Calibri"/>
                <a:sym typeface="Calibri"/>
              </a:rPr>
              <a:t> - 2 papers (Ti3C2Tx, HN-Ti3C2)</a:t>
            </a:r>
            <a:endParaRPr sz="1700">
              <a:solidFill>
                <a:srgbClr val="000000"/>
              </a:solidFill>
              <a:latin typeface="Calibri"/>
              <a:ea typeface="Calibri"/>
              <a:cs typeface="Calibri"/>
              <a:sym typeface="Calibri"/>
            </a:endParaRPr>
          </a:p>
          <a:p>
            <a:pPr indent="457200" lvl="0" marL="0" rtl="0" algn="l">
              <a:spcBef>
                <a:spcPts val="0"/>
              </a:spcBef>
              <a:spcAft>
                <a:spcPts val="0"/>
              </a:spcAft>
              <a:buNone/>
            </a:pPr>
            <a:br>
              <a:rPr lang="en-GB" sz="1700">
                <a:solidFill>
                  <a:srgbClr val="000000"/>
                </a:solidFill>
                <a:latin typeface="Calibri"/>
                <a:ea typeface="Calibri"/>
                <a:cs typeface="Calibri"/>
                <a:sym typeface="Calibri"/>
              </a:rPr>
            </a:br>
            <a:r>
              <a:rPr lang="en-GB" sz="1700">
                <a:solidFill>
                  <a:srgbClr val="000000"/>
                </a:solidFill>
                <a:latin typeface="Calibri"/>
                <a:ea typeface="Calibri"/>
                <a:cs typeface="Calibri"/>
                <a:sym typeface="Calibri"/>
              </a:rPr>
              <a:t> </a:t>
            </a:r>
            <a:r>
              <a:rPr lang="en-GB" sz="1700">
                <a:solidFill>
                  <a:srgbClr val="000000"/>
                </a:solidFill>
                <a:latin typeface="Arial"/>
                <a:ea typeface="Arial"/>
                <a:cs typeface="Arial"/>
                <a:sym typeface="Arial"/>
              </a:rPr>
              <a:t>🔧 Processing Workflow</a:t>
            </a:r>
            <a:br>
              <a:rPr lang="en-GB" sz="1700">
                <a:solidFill>
                  <a:srgbClr val="000000"/>
                </a:solidFill>
                <a:latin typeface="Arial"/>
                <a:ea typeface="Arial"/>
                <a:cs typeface="Arial"/>
                <a:sym typeface="Arial"/>
              </a:rPr>
            </a:br>
            <a:r>
              <a:rPr lang="en-GB" sz="1700">
                <a:solidFill>
                  <a:srgbClr val="000000"/>
                </a:solidFill>
                <a:latin typeface="Calibri"/>
                <a:ea typeface="Calibri"/>
                <a:cs typeface="Calibri"/>
                <a:sym typeface="Calibri"/>
              </a:rPr>
              <a:t> - 📂 GEO - Fastq files → QC</a:t>
            </a:r>
            <a:br>
              <a:rPr lang="en-GB" sz="1700">
                <a:solidFill>
                  <a:srgbClr val="000000"/>
                </a:solidFill>
                <a:latin typeface="Calibri"/>
                <a:ea typeface="Calibri"/>
                <a:cs typeface="Calibri"/>
                <a:sym typeface="Calibri"/>
              </a:rPr>
            </a:br>
            <a:r>
              <a:rPr lang="en-GB" sz="1700">
                <a:solidFill>
                  <a:srgbClr val="000000"/>
                </a:solidFill>
                <a:latin typeface="Calibri"/>
                <a:ea typeface="Calibri"/>
                <a:cs typeface="Calibri"/>
                <a:sym typeface="Calibri"/>
              </a:rPr>
              <a:t> - 📊 GEO - Raw counts → DE Analysis &amp; Enrichment</a:t>
            </a:r>
            <a:br>
              <a:rPr lang="en-GB" sz="1700">
                <a:solidFill>
                  <a:srgbClr val="000000"/>
                </a:solidFill>
                <a:latin typeface="Calibri"/>
                <a:ea typeface="Calibri"/>
                <a:cs typeface="Calibri"/>
                <a:sym typeface="Calibri"/>
              </a:rPr>
            </a:br>
            <a:r>
              <a:rPr lang="en-GB" sz="1700">
                <a:solidFill>
                  <a:srgbClr val="000000"/>
                </a:solidFill>
                <a:latin typeface="Calibri"/>
                <a:ea typeface="Calibri"/>
                <a:cs typeface="Calibri"/>
                <a:sym typeface="Calibri"/>
              </a:rPr>
              <a:t> - 📑 Literature DEG lists → Enrichment          (authors contacted)</a:t>
            </a:r>
            <a:endParaRPr sz="1700">
              <a:solidFill>
                <a:srgbClr val="000000"/>
              </a:solidFill>
              <a:latin typeface="Arial"/>
              <a:ea typeface="Arial"/>
              <a:cs typeface="Arial"/>
              <a:sym typeface="Arial"/>
            </a:endParaRPr>
          </a:p>
        </p:txBody>
      </p:sp>
      <p:sp>
        <p:nvSpPr>
          <p:cNvPr id="177" name="Google Shape;177;p18"/>
          <p:cNvSpPr/>
          <p:nvPr/>
        </p:nvSpPr>
        <p:spPr>
          <a:xfrm>
            <a:off x="4131596" y="1485975"/>
            <a:ext cx="11700" cy="3486000"/>
          </a:xfrm>
          <a:prstGeom prst="rect">
            <a:avLst/>
          </a:prstGeom>
          <a:solidFill>
            <a:srgbClr val="99999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9"/>
          <p:cNvSpPr txBox="1"/>
          <p:nvPr>
            <p:ph type="title"/>
          </p:nvPr>
        </p:nvSpPr>
        <p:spPr>
          <a:xfrm>
            <a:off x="729450" y="6552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Curate Ti₃C₂Tx signature (PBMC) – </a:t>
            </a:r>
            <a:r>
              <a:rPr lang="en-GB" u="sng">
                <a:solidFill>
                  <a:schemeClr val="hlink"/>
                </a:solidFill>
                <a:hlinkClick r:id="rId3"/>
              </a:rPr>
              <a:t>URL</a:t>
            </a:r>
            <a:endParaRPr/>
          </a:p>
        </p:txBody>
      </p:sp>
      <p:sp>
        <p:nvSpPr>
          <p:cNvPr id="183" name="Google Shape;183;p1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84" name="Google Shape;184;p19"/>
          <p:cNvPicPr preferRelativeResize="0"/>
          <p:nvPr/>
        </p:nvPicPr>
        <p:blipFill rotWithShape="1">
          <a:blip r:embed="rId4">
            <a:alphaModFix/>
          </a:blip>
          <a:srcRect b="0" l="0" r="0" t="1078"/>
          <a:stretch/>
        </p:blipFill>
        <p:spPr>
          <a:xfrm>
            <a:off x="838900" y="1492400"/>
            <a:ext cx="7579249" cy="3344219"/>
          </a:xfrm>
          <a:prstGeom prst="rect">
            <a:avLst/>
          </a:prstGeom>
          <a:noFill/>
          <a:ln cap="flat" cmpd="sng" w="19050">
            <a:solidFill>
              <a:srgbClr val="0B713F"/>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0"/>
          <p:cNvSpPr txBox="1"/>
          <p:nvPr>
            <p:ph type="title"/>
          </p:nvPr>
        </p:nvSpPr>
        <p:spPr>
          <a:xfrm>
            <a:off x="729450" y="6547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TF‑regulon expansion (Literature DEGs) </a:t>
            </a:r>
            <a:endParaRPr/>
          </a:p>
        </p:txBody>
      </p:sp>
      <p:sp>
        <p:nvSpPr>
          <p:cNvPr id="190" name="Google Shape;190;p2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91" name="Google Shape;191;p20"/>
          <p:cNvSpPr txBox="1"/>
          <p:nvPr>
            <p:ph idx="1" type="body"/>
          </p:nvPr>
        </p:nvSpPr>
        <p:spPr>
          <a:xfrm>
            <a:off x="642021" y="1390975"/>
            <a:ext cx="3718200" cy="2731500"/>
          </a:xfrm>
          <a:prstGeom prst="rect">
            <a:avLst/>
          </a:prstGeom>
        </p:spPr>
        <p:txBody>
          <a:bodyPr anchorCtr="0" anchor="ctr" bIns="91425" lIns="91425" spcFirstLastPara="1" rIns="91425" wrap="square" tIns="91425">
            <a:normAutofit/>
          </a:bodyPr>
          <a:lstStyle/>
          <a:p>
            <a:pPr indent="-311150" lvl="0" marL="457200" rtl="0" algn="l">
              <a:spcBef>
                <a:spcPts val="0"/>
              </a:spcBef>
              <a:spcAft>
                <a:spcPts val="0"/>
              </a:spcAft>
              <a:buSzPts val="1300"/>
              <a:buChar char="●"/>
            </a:pPr>
            <a:r>
              <a:rPr lang="en-GB"/>
              <a:t>Expanded with </a:t>
            </a:r>
            <a:r>
              <a:rPr b="1" lang="en-GB"/>
              <a:t>DoRothEA</a:t>
            </a:r>
            <a:r>
              <a:rPr lang="en-GB"/>
              <a:t> A–C</a:t>
            </a:r>
            <a:endParaRPr/>
          </a:p>
          <a:p>
            <a:pPr indent="-311150" lvl="0" marL="457200" rtl="0" algn="l">
              <a:spcBef>
                <a:spcPts val="1000"/>
              </a:spcBef>
              <a:spcAft>
                <a:spcPts val="0"/>
              </a:spcAft>
              <a:buSzPts val="1300"/>
              <a:buChar char="●"/>
            </a:pPr>
            <a:r>
              <a:rPr lang="en-GB"/>
              <a:t>Input ID=ENSEMBL</a:t>
            </a:r>
            <a:endParaRPr/>
          </a:p>
          <a:p>
            <a:pPr indent="-311150" lvl="0" marL="457200" rtl="0" algn="l">
              <a:spcBef>
                <a:spcPts val="1000"/>
              </a:spcBef>
              <a:spcAft>
                <a:spcPts val="0"/>
              </a:spcAft>
              <a:buSzPts val="1300"/>
              <a:buChar char="●"/>
            </a:pPr>
            <a:r>
              <a:rPr b="1" lang="en-GB"/>
              <a:t>132 </a:t>
            </a:r>
            <a:r>
              <a:rPr lang="en-GB"/>
              <a:t>→ </a:t>
            </a:r>
            <a:r>
              <a:rPr b="1" lang="en-GB"/>
              <a:t>1043 genes (838 AB &amp; 205 C)</a:t>
            </a:r>
            <a:endParaRPr/>
          </a:p>
          <a:p>
            <a:pPr indent="-311150" lvl="0" marL="457200" rtl="0" algn="l">
              <a:spcBef>
                <a:spcPts val="1000"/>
              </a:spcBef>
              <a:spcAft>
                <a:spcPts val="0"/>
              </a:spcAft>
              <a:buSzPts val="1300"/>
              <a:buChar char="●"/>
            </a:pPr>
            <a:r>
              <a:rPr lang="en-GB"/>
              <a:t>TF expansion [</a:t>
            </a:r>
            <a:r>
              <a:rPr b="1" lang="en-GB"/>
              <a:t>Ti3C2Tx</a:t>
            </a:r>
            <a:r>
              <a:rPr lang="en-GB"/>
              <a:t>]: </a:t>
            </a:r>
            <a:r>
              <a:rPr b="1" lang="en-GB"/>
              <a:t>126 </a:t>
            </a:r>
            <a:r>
              <a:rPr lang="en-GB"/>
              <a:t>→ </a:t>
            </a:r>
            <a:r>
              <a:rPr b="1" lang="en-GB"/>
              <a:t>704 </a:t>
            </a:r>
            <a:r>
              <a:rPr lang="en-GB"/>
              <a:t>genes (TFs matched: </a:t>
            </a:r>
            <a:r>
              <a:rPr b="1" lang="en-GB"/>
              <a:t>8</a:t>
            </a:r>
            <a:r>
              <a:rPr lang="en-GB"/>
              <a:t>; targets added: </a:t>
            </a:r>
            <a:r>
              <a:rPr b="1" lang="en-GB"/>
              <a:t>578</a:t>
            </a:r>
            <a:r>
              <a:rPr lang="en-GB"/>
              <a:t>)</a:t>
            </a:r>
            <a:endParaRPr/>
          </a:p>
          <a:p>
            <a:pPr indent="-311150" lvl="0" marL="457200" rtl="0" algn="l">
              <a:spcBef>
                <a:spcPts val="1000"/>
              </a:spcBef>
              <a:spcAft>
                <a:spcPts val="1000"/>
              </a:spcAft>
              <a:buSzPts val="1300"/>
              <a:buChar char="●"/>
            </a:pPr>
            <a:r>
              <a:rPr lang="en-GB"/>
              <a:t>TF expansion [</a:t>
            </a:r>
            <a:r>
              <a:rPr b="1" lang="en-GB"/>
              <a:t>HN-Ti3C2</a:t>
            </a:r>
            <a:r>
              <a:rPr lang="en-GB"/>
              <a:t>]: </a:t>
            </a:r>
            <a:r>
              <a:rPr b="1" lang="en-GB"/>
              <a:t>24 </a:t>
            </a:r>
            <a:r>
              <a:rPr lang="en-GB"/>
              <a:t>→ </a:t>
            </a:r>
            <a:r>
              <a:rPr b="1" lang="en-GB"/>
              <a:t>339 </a:t>
            </a:r>
            <a:r>
              <a:rPr lang="en-GB"/>
              <a:t>genes (TFs matched: </a:t>
            </a:r>
            <a:r>
              <a:rPr b="1" lang="en-GB"/>
              <a:t>1</a:t>
            </a:r>
            <a:r>
              <a:rPr lang="en-GB"/>
              <a:t>; targets added: </a:t>
            </a:r>
            <a:r>
              <a:rPr b="1" lang="en-GB"/>
              <a:t>315</a:t>
            </a:r>
            <a:r>
              <a:rPr lang="en-GB"/>
              <a:t>)</a:t>
            </a:r>
            <a:endParaRPr/>
          </a:p>
        </p:txBody>
      </p:sp>
      <p:graphicFrame>
        <p:nvGraphicFramePr>
          <p:cNvPr id="192" name="Google Shape;192;p20"/>
          <p:cNvGraphicFramePr/>
          <p:nvPr/>
        </p:nvGraphicFramePr>
        <p:xfrm>
          <a:off x="4637377" y="1424018"/>
          <a:ext cx="3000000" cy="3000000"/>
        </p:xfrm>
        <a:graphic>
          <a:graphicData uri="http://schemas.openxmlformats.org/drawingml/2006/table">
            <a:tbl>
              <a:tblPr>
                <a:noFill/>
                <a:tableStyleId>{BAA04C2A-9DD7-4750-A06F-671F7018027B}</a:tableStyleId>
              </a:tblPr>
              <a:tblGrid>
                <a:gridCol w="1070750"/>
                <a:gridCol w="828700"/>
                <a:gridCol w="774200"/>
                <a:gridCol w="913275"/>
              </a:tblGrid>
              <a:tr h="332700">
                <a:tc>
                  <a:txBody>
                    <a:bodyPr/>
                    <a:lstStyle/>
                    <a:p>
                      <a:pPr indent="0" lvl="0" marL="0" rtl="0" algn="l">
                        <a:spcBef>
                          <a:spcPts val="0"/>
                        </a:spcBef>
                        <a:spcAft>
                          <a:spcPts val="0"/>
                        </a:spcAft>
                        <a:buNone/>
                      </a:pPr>
                      <a:r>
                        <a:rPr lang="en-GB" sz="1100"/>
                        <a:t>TF (</a:t>
                      </a:r>
                      <a:r>
                        <a:rPr b="1" lang="en-GB" sz="1100"/>
                        <a:t>Ti3C2Tx</a:t>
                      </a:r>
                      <a:r>
                        <a:rPr lang="en-GB" sz="1100"/>
                        <a:t>)</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1100"/>
                        <a:t>n_targets</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1100"/>
                        <a:t>n_added</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1100"/>
                        <a:t>confidence</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solidFill>
                      <a:srgbClr val="D9EAD3"/>
                    </a:solidFill>
                  </a:tcPr>
                </a:tc>
              </a:tr>
              <a:tr h="365025">
                <a:tc>
                  <a:txBody>
                    <a:bodyPr/>
                    <a:lstStyle/>
                    <a:p>
                      <a:pPr indent="0" lvl="0" marL="0" rtl="0" algn="l">
                        <a:spcBef>
                          <a:spcPts val="0"/>
                        </a:spcBef>
                        <a:spcAft>
                          <a:spcPts val="0"/>
                        </a:spcAft>
                        <a:buNone/>
                      </a:pPr>
                      <a:r>
                        <a:rPr lang="en-GB" sz="1100"/>
                        <a:t>STAT1</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t>290</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t>255</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spcBef>
                          <a:spcPts val="0"/>
                        </a:spcBef>
                        <a:spcAft>
                          <a:spcPts val="0"/>
                        </a:spcAft>
                        <a:buNone/>
                      </a:pPr>
                      <a:r>
                        <a:rPr lang="en-GB" sz="1100"/>
                        <a:t>A</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r>
              <a:tr h="365025">
                <a:tc>
                  <a:txBody>
                    <a:bodyPr/>
                    <a:lstStyle/>
                    <a:p>
                      <a:pPr indent="0" lvl="0" marL="0" rtl="0" algn="l">
                        <a:spcBef>
                          <a:spcPts val="0"/>
                        </a:spcBef>
                        <a:spcAft>
                          <a:spcPts val="0"/>
                        </a:spcAft>
                        <a:buNone/>
                      </a:pPr>
                      <a:r>
                        <a:rPr lang="en-GB" sz="1100"/>
                        <a:t>EGR1</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t>124</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t>121</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spcBef>
                          <a:spcPts val="0"/>
                        </a:spcBef>
                        <a:spcAft>
                          <a:spcPts val="0"/>
                        </a:spcAft>
                        <a:buNone/>
                      </a:pPr>
                      <a:r>
                        <a:rPr lang="en-GB" sz="1100"/>
                        <a:t>A</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r>
              <a:tr h="365025">
                <a:tc>
                  <a:txBody>
                    <a:bodyPr/>
                    <a:lstStyle/>
                    <a:p>
                      <a:pPr indent="0" lvl="0" marL="0" rtl="0" algn="l">
                        <a:spcBef>
                          <a:spcPts val="0"/>
                        </a:spcBef>
                        <a:spcAft>
                          <a:spcPts val="0"/>
                        </a:spcAft>
                        <a:buNone/>
                      </a:pPr>
                      <a:r>
                        <a:rPr lang="en-GB" sz="1100"/>
                        <a:t>IRF2</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t>76</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t>70</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spcBef>
                          <a:spcPts val="0"/>
                        </a:spcBef>
                        <a:spcAft>
                          <a:spcPts val="0"/>
                        </a:spcAft>
                        <a:buNone/>
                      </a:pPr>
                      <a:r>
                        <a:rPr lang="en-GB" sz="1100"/>
                        <a:t>C</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r>
              <a:tr h="365025">
                <a:tc>
                  <a:txBody>
                    <a:bodyPr/>
                    <a:lstStyle/>
                    <a:p>
                      <a:pPr indent="0" lvl="0" marL="0" rtl="0" algn="l">
                        <a:spcBef>
                          <a:spcPts val="0"/>
                        </a:spcBef>
                        <a:spcAft>
                          <a:spcPts val="0"/>
                        </a:spcAft>
                        <a:buNone/>
                      </a:pPr>
                      <a:r>
                        <a:rPr lang="en-GB" sz="1100"/>
                        <a:t>IRF3</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t>74</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t>70</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spcBef>
                          <a:spcPts val="0"/>
                        </a:spcBef>
                        <a:spcAft>
                          <a:spcPts val="0"/>
                        </a:spcAft>
                        <a:buNone/>
                      </a:pPr>
                      <a:r>
                        <a:rPr lang="en-GB" sz="1100"/>
                        <a:t>C</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r>
              <a:tr h="365025">
                <a:tc>
                  <a:txBody>
                    <a:bodyPr/>
                    <a:lstStyle/>
                    <a:p>
                      <a:pPr indent="0" lvl="0" marL="0" rtl="0" algn="l">
                        <a:spcBef>
                          <a:spcPts val="0"/>
                        </a:spcBef>
                        <a:spcAft>
                          <a:spcPts val="0"/>
                        </a:spcAft>
                        <a:buNone/>
                      </a:pPr>
                      <a:r>
                        <a:rPr lang="en-GB" sz="1100"/>
                        <a:t>IRF4</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t>68</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t>65</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spcBef>
                          <a:spcPts val="0"/>
                        </a:spcBef>
                        <a:spcAft>
                          <a:spcPts val="0"/>
                        </a:spcAft>
                        <a:buNone/>
                      </a:pPr>
                      <a:r>
                        <a:rPr lang="en-GB" sz="1100"/>
                        <a:t>C</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r>
              <a:tr h="365025">
                <a:tc>
                  <a:txBody>
                    <a:bodyPr/>
                    <a:lstStyle/>
                    <a:p>
                      <a:pPr indent="0" lvl="0" marL="0" rtl="0" algn="l">
                        <a:spcBef>
                          <a:spcPts val="0"/>
                        </a:spcBef>
                        <a:spcAft>
                          <a:spcPts val="0"/>
                        </a:spcAft>
                        <a:buNone/>
                      </a:pPr>
                      <a:r>
                        <a:rPr lang="en-GB" sz="1100"/>
                        <a:t>IRF1</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t>32</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t>25</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spcBef>
                          <a:spcPts val="0"/>
                        </a:spcBef>
                        <a:spcAft>
                          <a:spcPts val="0"/>
                        </a:spcAft>
                        <a:buNone/>
                      </a:pPr>
                      <a:r>
                        <a:rPr lang="en-GB" sz="1100"/>
                        <a:t>A</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r>
              <a:tr h="365025">
                <a:tc>
                  <a:txBody>
                    <a:bodyPr/>
                    <a:lstStyle/>
                    <a:p>
                      <a:pPr indent="0" lvl="0" marL="0" rtl="0" algn="l">
                        <a:spcBef>
                          <a:spcPts val="0"/>
                        </a:spcBef>
                        <a:spcAft>
                          <a:spcPts val="0"/>
                        </a:spcAft>
                        <a:buNone/>
                      </a:pPr>
                      <a:r>
                        <a:rPr lang="en-GB" sz="1100"/>
                        <a:t>STAT2</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t>39</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t>21</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spcBef>
                          <a:spcPts val="0"/>
                        </a:spcBef>
                        <a:spcAft>
                          <a:spcPts val="0"/>
                        </a:spcAft>
                        <a:buNone/>
                      </a:pPr>
                      <a:r>
                        <a:rPr lang="en-GB" sz="1100"/>
                        <a:t>B</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r>
              <a:tr h="365025">
                <a:tc>
                  <a:txBody>
                    <a:bodyPr/>
                    <a:lstStyle/>
                    <a:p>
                      <a:pPr indent="0" lvl="0" marL="0" rtl="0" algn="l">
                        <a:spcBef>
                          <a:spcPts val="0"/>
                        </a:spcBef>
                        <a:spcAft>
                          <a:spcPts val="0"/>
                        </a:spcAft>
                        <a:buNone/>
                      </a:pPr>
                      <a:r>
                        <a:rPr lang="en-GB" sz="1100"/>
                        <a:t>IRF9</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t>12</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t>3</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spcBef>
                          <a:spcPts val="0"/>
                        </a:spcBef>
                        <a:spcAft>
                          <a:spcPts val="0"/>
                        </a:spcAft>
                        <a:buNone/>
                      </a:pPr>
                      <a:r>
                        <a:rPr lang="en-GB" sz="1100"/>
                        <a:t>B</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r>
            </a:tbl>
          </a:graphicData>
        </a:graphic>
      </p:graphicFrame>
      <p:graphicFrame>
        <p:nvGraphicFramePr>
          <p:cNvPr id="193" name="Google Shape;193;p20"/>
          <p:cNvGraphicFramePr/>
          <p:nvPr/>
        </p:nvGraphicFramePr>
        <p:xfrm>
          <a:off x="853453" y="4036785"/>
          <a:ext cx="3000000" cy="3000000"/>
        </p:xfrm>
        <a:graphic>
          <a:graphicData uri="http://schemas.openxmlformats.org/drawingml/2006/table">
            <a:tbl>
              <a:tblPr>
                <a:noFill/>
                <a:tableStyleId>{BAA04C2A-9DD7-4750-A06F-671F7018027B}</a:tableStyleId>
              </a:tblPr>
              <a:tblGrid>
                <a:gridCol w="1155075"/>
                <a:gridCol w="789375"/>
                <a:gridCol w="755350"/>
                <a:gridCol w="887125"/>
              </a:tblGrid>
              <a:tr h="260600">
                <a:tc>
                  <a:txBody>
                    <a:bodyPr/>
                    <a:lstStyle/>
                    <a:p>
                      <a:pPr indent="0" lvl="0" marL="0" rtl="0" algn="l">
                        <a:spcBef>
                          <a:spcPts val="0"/>
                        </a:spcBef>
                        <a:spcAft>
                          <a:spcPts val="0"/>
                        </a:spcAft>
                        <a:buNone/>
                      </a:pPr>
                      <a:r>
                        <a:rPr lang="en-GB" sz="1100"/>
                        <a:t>TF (</a:t>
                      </a:r>
                      <a:r>
                        <a:rPr b="1" lang="en-GB" sz="1100"/>
                        <a:t>HN-Ti3C2</a:t>
                      </a:r>
                      <a:r>
                        <a:rPr lang="en-GB" sz="1100"/>
                        <a:t>)</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1100"/>
                        <a:t>n_targets</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1100"/>
                        <a:t>n_added</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GB" sz="1100"/>
                        <a:t>confidence</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solidFill>
                      <a:srgbClr val="D9EAD3"/>
                    </a:solidFill>
                  </a:tcPr>
                </a:tc>
              </a:tr>
              <a:tr h="274600">
                <a:tc>
                  <a:txBody>
                    <a:bodyPr/>
                    <a:lstStyle/>
                    <a:p>
                      <a:pPr indent="0" lvl="0" marL="0" rtl="0" algn="l">
                        <a:spcBef>
                          <a:spcPts val="0"/>
                        </a:spcBef>
                        <a:spcAft>
                          <a:spcPts val="0"/>
                        </a:spcAft>
                        <a:buNone/>
                      </a:pPr>
                      <a:r>
                        <a:rPr lang="en-GB" sz="1100"/>
                        <a:t>E2F1</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t>324</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t>315</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c>
                  <a:txBody>
                    <a:bodyPr/>
                    <a:lstStyle/>
                    <a:p>
                      <a:pPr indent="0" lvl="0" marL="0" rtl="0" algn="ctr">
                        <a:spcBef>
                          <a:spcPts val="0"/>
                        </a:spcBef>
                        <a:spcAft>
                          <a:spcPts val="0"/>
                        </a:spcAft>
                        <a:buNone/>
                      </a:pPr>
                      <a:r>
                        <a:rPr lang="en-GB" sz="1100"/>
                        <a:t>A</a:t>
                      </a:r>
                      <a:endParaRPr sz="1100"/>
                    </a:p>
                  </a:txBody>
                  <a:tcPr marT="91425" marB="91425" marR="91425" marL="91425">
                    <a:lnL cap="flat" cmpd="sng" w="9525">
                      <a:solidFill>
                        <a:srgbClr val="0B713F"/>
                      </a:solidFill>
                      <a:prstDash val="solid"/>
                      <a:round/>
                      <a:headEnd len="sm" w="sm" type="none"/>
                      <a:tailEnd len="sm" w="sm" type="none"/>
                    </a:lnL>
                    <a:lnR cap="flat" cmpd="sng" w="9525">
                      <a:solidFill>
                        <a:srgbClr val="0B713F"/>
                      </a:solidFill>
                      <a:prstDash val="solid"/>
                      <a:round/>
                      <a:headEnd len="sm" w="sm" type="none"/>
                      <a:tailEnd len="sm" w="sm" type="none"/>
                    </a:lnR>
                    <a:lnT cap="flat" cmpd="sng" w="9525">
                      <a:solidFill>
                        <a:srgbClr val="0B713F"/>
                      </a:solidFill>
                      <a:prstDash val="solid"/>
                      <a:round/>
                      <a:headEnd len="sm" w="sm" type="none"/>
                      <a:tailEnd len="sm" w="sm" type="none"/>
                    </a:lnT>
                    <a:lnB cap="flat" cmpd="sng" w="9525">
                      <a:solidFill>
                        <a:srgbClr val="0B713F"/>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1"/>
          <p:cNvSpPr txBox="1"/>
          <p:nvPr>
            <p:ph type="title"/>
          </p:nvPr>
        </p:nvSpPr>
        <p:spPr>
          <a:xfrm>
            <a:off x="727650" y="6620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GEO PBMC (GSE200036) - QC</a:t>
            </a:r>
            <a:endParaRPr/>
          </a:p>
        </p:txBody>
      </p:sp>
      <p:sp>
        <p:nvSpPr>
          <p:cNvPr id="199" name="Google Shape;199;p2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200" name="Google Shape;200;p21"/>
          <p:cNvPicPr preferRelativeResize="0"/>
          <p:nvPr/>
        </p:nvPicPr>
        <p:blipFill rotWithShape="1">
          <a:blip r:embed="rId3">
            <a:alphaModFix/>
          </a:blip>
          <a:srcRect b="1759" l="0" r="0" t="0"/>
          <a:stretch/>
        </p:blipFill>
        <p:spPr>
          <a:xfrm>
            <a:off x="727650" y="1444500"/>
            <a:ext cx="5462226" cy="3577401"/>
          </a:xfrm>
          <a:prstGeom prst="rect">
            <a:avLst/>
          </a:prstGeom>
          <a:noFill/>
          <a:ln>
            <a:noFill/>
          </a:ln>
        </p:spPr>
      </p:pic>
      <p:pic>
        <p:nvPicPr>
          <p:cNvPr id="201" name="Google Shape;201;p21"/>
          <p:cNvPicPr preferRelativeResize="0"/>
          <p:nvPr/>
        </p:nvPicPr>
        <p:blipFill rotWithShape="1">
          <a:blip r:embed="rId4">
            <a:alphaModFix/>
          </a:blip>
          <a:srcRect b="0" l="0" r="0" t="24998"/>
          <a:stretch/>
        </p:blipFill>
        <p:spPr>
          <a:xfrm>
            <a:off x="6078450" y="1768000"/>
            <a:ext cx="3065550" cy="678600"/>
          </a:xfrm>
          <a:prstGeom prst="rect">
            <a:avLst/>
          </a:prstGeom>
          <a:noFill/>
          <a:ln>
            <a:noFill/>
          </a:ln>
        </p:spPr>
      </p:pic>
      <p:sp>
        <p:nvSpPr>
          <p:cNvPr id="202" name="Google Shape;202;p21"/>
          <p:cNvSpPr txBox="1"/>
          <p:nvPr/>
        </p:nvSpPr>
        <p:spPr>
          <a:xfrm>
            <a:off x="6111225" y="2378950"/>
            <a:ext cx="3000000" cy="2416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GB" sz="1000"/>
              <a:t>FastQC summary across 18 RNA-seq samples</a:t>
            </a:r>
            <a:r>
              <a:rPr b="1" lang="en-GB" sz="1000"/>
              <a:t>.</a:t>
            </a:r>
            <a:r>
              <a:rPr lang="en-GB" sz="1000"/>
              <a:t> Rows are samples and columns are FastQC modules. </a:t>
            </a:r>
            <a:endParaRPr sz="1000"/>
          </a:p>
          <a:p>
            <a:pPr indent="0" lvl="0" marL="0" marR="0" rtl="0" algn="l">
              <a:lnSpc>
                <a:spcPct val="115000"/>
              </a:lnSpc>
              <a:spcBef>
                <a:spcPts val="1200"/>
              </a:spcBef>
              <a:spcAft>
                <a:spcPts val="0"/>
              </a:spcAft>
              <a:buNone/>
            </a:pPr>
            <a:r>
              <a:rPr lang="en-GB" sz="1000"/>
              <a:t>Most libraries pass core metrics (basic stats, per-base quality), with common warnings in </a:t>
            </a:r>
            <a:r>
              <a:rPr i="1" lang="en-GB" sz="1000"/>
              <a:t>Per Base Sequence Content</a:t>
            </a:r>
            <a:r>
              <a:rPr lang="en-GB" sz="1000"/>
              <a:t>, </a:t>
            </a:r>
            <a:r>
              <a:rPr i="1" lang="en-GB" sz="1000"/>
              <a:t>GC Content</a:t>
            </a:r>
            <a:r>
              <a:rPr lang="en-GB" sz="1000"/>
              <a:t>, and </a:t>
            </a:r>
            <a:r>
              <a:rPr i="1" lang="en-GB" sz="1000"/>
              <a:t>Overrepresented Sequences</a:t>
            </a:r>
            <a:r>
              <a:rPr lang="en-GB" sz="1000"/>
              <a:t>, while adapter content appears largely acceptable.</a:t>
            </a:r>
            <a:endParaRPr sz="1000"/>
          </a:p>
          <a:p>
            <a:pPr indent="0" lvl="0" marL="0" marR="0" rtl="0" algn="l">
              <a:lnSpc>
                <a:spcPct val="115000"/>
              </a:lnSpc>
              <a:spcBef>
                <a:spcPts val="1200"/>
              </a:spcBef>
              <a:spcAft>
                <a:spcPts val="1200"/>
              </a:spcAft>
              <a:buNone/>
            </a:pPr>
            <a:r>
              <a:rPr lang="en-GB" sz="1000"/>
              <a:t>Per-base sequence content shows an A/T enrichment (~30–35 bp) typical of RNA-seq composition/priming bias.</a:t>
            </a:r>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2"/>
          <p:cNvSpPr txBox="1"/>
          <p:nvPr>
            <p:ph type="title"/>
          </p:nvPr>
        </p:nvSpPr>
        <p:spPr>
          <a:xfrm>
            <a:off x="727650" y="6620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GEO PBMC (GSE200036) - Raw Counts Validation</a:t>
            </a:r>
            <a:endParaRPr/>
          </a:p>
        </p:txBody>
      </p:sp>
      <p:sp>
        <p:nvSpPr>
          <p:cNvPr id="208" name="Google Shape;208;p2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209" name="Google Shape;209;p22"/>
          <p:cNvPicPr preferRelativeResize="0"/>
          <p:nvPr/>
        </p:nvPicPr>
        <p:blipFill>
          <a:blip r:embed="rId3">
            <a:alphaModFix/>
          </a:blip>
          <a:stretch>
            <a:fillRect/>
          </a:stretch>
        </p:blipFill>
        <p:spPr>
          <a:xfrm>
            <a:off x="4063725" y="1957675"/>
            <a:ext cx="4472576" cy="2546225"/>
          </a:xfrm>
          <a:prstGeom prst="rect">
            <a:avLst/>
          </a:prstGeom>
          <a:noFill/>
          <a:ln>
            <a:noFill/>
          </a:ln>
        </p:spPr>
      </p:pic>
      <p:sp>
        <p:nvSpPr>
          <p:cNvPr id="210" name="Google Shape;210;p22"/>
          <p:cNvSpPr txBox="1"/>
          <p:nvPr/>
        </p:nvSpPr>
        <p:spPr>
          <a:xfrm>
            <a:off x="727650" y="1957675"/>
            <a:ext cx="3000000" cy="23694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800"/>
              </a:spcBef>
              <a:spcAft>
                <a:spcPts val="0"/>
              </a:spcAft>
              <a:buSzPts val="1200"/>
              <a:buChar char="●"/>
            </a:pPr>
            <a:r>
              <a:rPr b="1" lang="en-GB" sz="1200"/>
              <a:t>Total samples:</a:t>
            </a:r>
            <a:r>
              <a:rPr lang="en-GB" sz="1200"/>
              <a:t> 18 (6 conditions × 3 replicates)</a:t>
            </a:r>
            <a:endParaRPr sz="1200"/>
          </a:p>
          <a:p>
            <a:pPr indent="-304800" lvl="0" marL="457200" rtl="0" algn="l">
              <a:lnSpc>
                <a:spcPct val="115000"/>
              </a:lnSpc>
              <a:spcBef>
                <a:spcPts val="1000"/>
              </a:spcBef>
              <a:spcAft>
                <a:spcPts val="0"/>
              </a:spcAft>
              <a:buSzPts val="1200"/>
              <a:buChar char="●"/>
            </a:pPr>
            <a:r>
              <a:rPr b="1" lang="en-GB" sz="1200"/>
              <a:t>Library sizes:</a:t>
            </a:r>
            <a:r>
              <a:rPr lang="en-GB" sz="1200"/>
              <a:t> 1.7M–3.2M reads</a:t>
            </a:r>
            <a:endParaRPr sz="1200"/>
          </a:p>
          <a:p>
            <a:pPr indent="-304800" lvl="0" marL="457200" rtl="0" algn="l">
              <a:lnSpc>
                <a:spcPct val="115000"/>
              </a:lnSpc>
              <a:spcBef>
                <a:spcPts val="1000"/>
              </a:spcBef>
              <a:spcAft>
                <a:spcPts val="0"/>
              </a:spcAft>
              <a:buSzPts val="1200"/>
              <a:buChar char="●"/>
            </a:pPr>
            <a:r>
              <a:rPr lang="en-GB" sz="1200"/>
              <a:t>2 low-depth samples flagged (ID7.MX1.T24.A, ID9.MX3.T24.B)</a:t>
            </a:r>
            <a:endParaRPr sz="1200"/>
          </a:p>
          <a:p>
            <a:pPr indent="-304800" lvl="0" marL="457200" rtl="0" algn="l">
              <a:lnSpc>
                <a:spcPct val="115000"/>
              </a:lnSpc>
              <a:spcBef>
                <a:spcPts val="1000"/>
              </a:spcBef>
              <a:spcAft>
                <a:spcPts val="0"/>
              </a:spcAft>
              <a:buSzPts val="1200"/>
              <a:buChar char="●"/>
            </a:pPr>
            <a:r>
              <a:rPr lang="en-GB" sz="1200"/>
              <a:t>Replicates balanced across conditions</a:t>
            </a:r>
            <a:endParaRPr sz="1200"/>
          </a:p>
          <a:p>
            <a:pPr indent="-304800" lvl="0" marL="457200" rtl="0" algn="l">
              <a:lnSpc>
                <a:spcPct val="115000"/>
              </a:lnSpc>
              <a:spcBef>
                <a:spcPts val="1000"/>
              </a:spcBef>
              <a:spcAft>
                <a:spcPts val="1000"/>
              </a:spcAft>
              <a:buSzPts val="1200"/>
              <a:buChar char="●"/>
            </a:pPr>
            <a:r>
              <a:rPr lang="en-GB" sz="1200"/>
              <a:t>QC largely passed</a:t>
            </a:r>
            <a:endParaRPr sz="1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3"/>
          <p:cNvSpPr txBox="1"/>
          <p:nvPr>
            <p:ph type="title"/>
          </p:nvPr>
        </p:nvSpPr>
        <p:spPr>
          <a:xfrm>
            <a:off x="727650" y="6620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GEO PBMC (GSE200036) - Raw Counts Validation</a:t>
            </a:r>
            <a:endParaRPr/>
          </a:p>
        </p:txBody>
      </p:sp>
      <p:sp>
        <p:nvSpPr>
          <p:cNvPr id="216" name="Google Shape;216;p2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217" name="Google Shape;217;p23"/>
          <p:cNvPicPr preferRelativeResize="0"/>
          <p:nvPr/>
        </p:nvPicPr>
        <p:blipFill rotWithShape="1">
          <a:blip r:embed="rId3">
            <a:alphaModFix/>
          </a:blip>
          <a:srcRect b="9421" l="0" r="0" t="9575"/>
          <a:stretch/>
        </p:blipFill>
        <p:spPr>
          <a:xfrm>
            <a:off x="4435750" y="1442625"/>
            <a:ext cx="3928675" cy="3137449"/>
          </a:xfrm>
          <a:prstGeom prst="rect">
            <a:avLst/>
          </a:prstGeom>
          <a:noFill/>
          <a:ln>
            <a:noFill/>
          </a:ln>
        </p:spPr>
      </p:pic>
      <p:pic>
        <p:nvPicPr>
          <p:cNvPr id="218" name="Google Shape;218;p23"/>
          <p:cNvPicPr preferRelativeResize="0"/>
          <p:nvPr/>
        </p:nvPicPr>
        <p:blipFill>
          <a:blip r:embed="rId4">
            <a:alphaModFix/>
          </a:blip>
          <a:stretch>
            <a:fillRect/>
          </a:stretch>
        </p:blipFill>
        <p:spPr>
          <a:xfrm>
            <a:off x="851010" y="1442625"/>
            <a:ext cx="3506564" cy="3137450"/>
          </a:xfrm>
          <a:prstGeom prst="rect">
            <a:avLst/>
          </a:prstGeom>
          <a:noFill/>
          <a:ln>
            <a:noFill/>
          </a:ln>
        </p:spPr>
      </p:pic>
      <p:sp>
        <p:nvSpPr>
          <p:cNvPr id="219" name="Google Shape;219;p23"/>
          <p:cNvSpPr txBox="1"/>
          <p:nvPr/>
        </p:nvSpPr>
        <p:spPr>
          <a:xfrm>
            <a:off x="653400" y="4580075"/>
            <a:ext cx="7837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200"/>
              <a:t>Replicates cluster tightly by condition. ConA explains most variance (PC1), LPS separates on PC2, while MXene-exposed PBMCs remain close to controls—consistent with modest transcriptomic effects at 24 h.</a:t>
            </a: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4"/>
          <p:cNvSpPr txBox="1"/>
          <p:nvPr>
            <p:ph type="title"/>
          </p:nvPr>
        </p:nvSpPr>
        <p:spPr>
          <a:xfrm>
            <a:off x="727650" y="6620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GEO PBMC (GSE200036) - Raw Counts Validation</a:t>
            </a:r>
            <a:endParaRPr/>
          </a:p>
        </p:txBody>
      </p:sp>
      <p:sp>
        <p:nvSpPr>
          <p:cNvPr id="225" name="Google Shape;225;p2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26" name="Google Shape;226;p24"/>
          <p:cNvSpPr txBox="1"/>
          <p:nvPr/>
        </p:nvSpPr>
        <p:spPr>
          <a:xfrm>
            <a:off x="727650" y="1888375"/>
            <a:ext cx="3212100" cy="2645100"/>
          </a:xfrm>
          <a:prstGeom prst="rect">
            <a:avLst/>
          </a:prstGeom>
          <a:noFill/>
          <a:ln>
            <a:noFill/>
          </a:ln>
        </p:spPr>
        <p:txBody>
          <a:bodyPr anchorCtr="0" anchor="ctr" bIns="91425" lIns="91425" spcFirstLastPara="1" rIns="91425" wrap="square" tIns="91425">
            <a:noAutofit/>
          </a:bodyPr>
          <a:lstStyle/>
          <a:p>
            <a:pPr indent="-298450" lvl="0" marL="457200" rtl="0" algn="l">
              <a:spcBef>
                <a:spcPts val="0"/>
              </a:spcBef>
              <a:spcAft>
                <a:spcPts val="0"/>
              </a:spcAft>
              <a:buSzPts val="1100"/>
              <a:buChar char="●"/>
            </a:pPr>
            <a:r>
              <a:rPr b="1" lang="en-GB" sz="1100"/>
              <a:t>Mitochondrial</a:t>
            </a:r>
            <a:r>
              <a:rPr lang="en-GB" sz="1100"/>
              <a:t> &gt;10–15% in bulk can indicate RNA degradation or sample issues</a:t>
            </a:r>
            <a:endParaRPr sz="1100"/>
          </a:p>
          <a:p>
            <a:pPr indent="-298450" lvl="0" marL="457200" rtl="0" algn="l">
              <a:spcBef>
                <a:spcPts val="1000"/>
              </a:spcBef>
              <a:spcAft>
                <a:spcPts val="1000"/>
              </a:spcAft>
              <a:buSzPts val="1100"/>
              <a:buChar char="●"/>
            </a:pPr>
            <a:r>
              <a:rPr b="1" lang="en-GB" sz="1100"/>
              <a:t>Ribosomal</a:t>
            </a:r>
            <a:r>
              <a:rPr lang="en-GB" sz="1100"/>
              <a:t> a few percent is expected even with polyA selection; large values (e.g., &gt;15–20%) could mean poor rRNA depletion or genomic contamination.</a:t>
            </a:r>
            <a:endParaRPr sz="1100"/>
          </a:p>
        </p:txBody>
      </p:sp>
      <p:pic>
        <p:nvPicPr>
          <p:cNvPr id="227" name="Google Shape;227;p24"/>
          <p:cNvPicPr preferRelativeResize="0"/>
          <p:nvPr/>
        </p:nvPicPr>
        <p:blipFill>
          <a:blip r:embed="rId3">
            <a:alphaModFix/>
          </a:blip>
          <a:stretch>
            <a:fillRect/>
          </a:stretch>
        </p:blipFill>
        <p:spPr>
          <a:xfrm>
            <a:off x="3979450" y="1388633"/>
            <a:ext cx="4556851" cy="36445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5"/>
          <p:cNvSpPr txBox="1"/>
          <p:nvPr>
            <p:ph type="title"/>
          </p:nvPr>
        </p:nvSpPr>
        <p:spPr>
          <a:xfrm>
            <a:off x="727650" y="654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Preprocessing &amp; DE</a:t>
            </a:r>
            <a:endParaRPr/>
          </a:p>
        </p:txBody>
      </p:sp>
      <p:sp>
        <p:nvSpPr>
          <p:cNvPr id="233" name="Google Shape;233;p25"/>
          <p:cNvSpPr txBox="1"/>
          <p:nvPr>
            <p:ph idx="12" type="sldNum"/>
          </p:nvPr>
        </p:nvSpPr>
        <p:spPr>
          <a:xfrm>
            <a:off x="8536302" y="474990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234" name="Google Shape;234;p25"/>
          <p:cNvPicPr preferRelativeResize="0"/>
          <p:nvPr/>
        </p:nvPicPr>
        <p:blipFill>
          <a:blip r:embed="rId3">
            <a:alphaModFix/>
          </a:blip>
          <a:stretch>
            <a:fillRect/>
          </a:stretch>
        </p:blipFill>
        <p:spPr>
          <a:xfrm>
            <a:off x="4620563" y="1400700"/>
            <a:ext cx="3788564" cy="2967549"/>
          </a:xfrm>
          <a:prstGeom prst="rect">
            <a:avLst/>
          </a:prstGeom>
          <a:noFill/>
          <a:ln>
            <a:noFill/>
          </a:ln>
        </p:spPr>
      </p:pic>
      <p:sp>
        <p:nvSpPr>
          <p:cNvPr id="235" name="Google Shape;235;p25"/>
          <p:cNvSpPr txBox="1"/>
          <p:nvPr/>
        </p:nvSpPr>
        <p:spPr>
          <a:xfrm>
            <a:off x="4821041" y="4254962"/>
            <a:ext cx="33876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t>ConA is the strongest perturbation with thousands of DEGs, LPS is next—as expected for positive immune controls. MXenes induce fewer but measurable changes; Ta₄C₃ &gt; Mo₂Ti₂C₃ ≈ Nb₄C₃ in magnitude. Up/down counts are fairly balanced, suggesting mixed activation/repression programs.</a:t>
            </a:r>
            <a:endParaRPr sz="900"/>
          </a:p>
        </p:txBody>
      </p:sp>
      <p:sp>
        <p:nvSpPr>
          <p:cNvPr id="236" name="Google Shape;236;p25"/>
          <p:cNvSpPr txBox="1"/>
          <p:nvPr/>
        </p:nvSpPr>
        <p:spPr>
          <a:xfrm>
            <a:off x="727128" y="4324466"/>
            <a:ext cx="36951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t>Samples cluster primarily by condition. ConA and LPS separate cleanly from CTRL. MXenes cluster closer to CTRL and partially to each other, consistent with smaller effect sizes. No obvious sample outliers—technical QC looks acceptable.</a:t>
            </a:r>
            <a:endParaRPr sz="1000"/>
          </a:p>
        </p:txBody>
      </p:sp>
      <p:pic>
        <p:nvPicPr>
          <p:cNvPr id="237" name="Google Shape;237;p25"/>
          <p:cNvPicPr preferRelativeResize="0"/>
          <p:nvPr/>
        </p:nvPicPr>
        <p:blipFill>
          <a:blip r:embed="rId4">
            <a:alphaModFix/>
          </a:blip>
          <a:stretch>
            <a:fillRect/>
          </a:stretch>
        </p:blipFill>
        <p:spPr>
          <a:xfrm>
            <a:off x="727103" y="1464488"/>
            <a:ext cx="3695135" cy="27713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id="242" name="Google Shape;242;p26"/>
          <p:cNvPicPr preferRelativeResize="0"/>
          <p:nvPr/>
        </p:nvPicPr>
        <p:blipFill>
          <a:blip r:embed="rId3">
            <a:alphaModFix/>
          </a:blip>
          <a:stretch>
            <a:fillRect/>
          </a:stretch>
        </p:blipFill>
        <p:spPr>
          <a:xfrm>
            <a:off x="6060580" y="2968178"/>
            <a:ext cx="2609900" cy="2175350"/>
          </a:xfrm>
          <a:prstGeom prst="rect">
            <a:avLst/>
          </a:prstGeom>
          <a:noFill/>
          <a:ln>
            <a:noFill/>
          </a:ln>
        </p:spPr>
      </p:pic>
      <p:sp>
        <p:nvSpPr>
          <p:cNvPr id="243" name="Google Shape;243;p26"/>
          <p:cNvSpPr txBox="1"/>
          <p:nvPr>
            <p:ph type="title"/>
          </p:nvPr>
        </p:nvSpPr>
        <p:spPr>
          <a:xfrm>
            <a:off x="727650" y="654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Differential Expression Analysis</a:t>
            </a:r>
            <a:endParaRPr/>
          </a:p>
        </p:txBody>
      </p:sp>
      <p:sp>
        <p:nvSpPr>
          <p:cNvPr id="244" name="Google Shape;244;p2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45" name="Google Shape;245;p26"/>
          <p:cNvSpPr txBox="1"/>
          <p:nvPr/>
        </p:nvSpPr>
        <p:spPr>
          <a:xfrm>
            <a:off x="583398" y="4598750"/>
            <a:ext cx="268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700"/>
              <a:t>ConA:</a:t>
            </a:r>
            <a:r>
              <a:rPr lang="en-GB" sz="700"/>
              <a:t> “Very broad bidirectional response with many highly significant genes—our strongest positive control.”</a:t>
            </a:r>
            <a:endParaRPr sz="700"/>
          </a:p>
          <a:p>
            <a:pPr indent="0" lvl="0" marL="0" rtl="0" algn="l">
              <a:spcBef>
                <a:spcPts val="0"/>
              </a:spcBef>
              <a:spcAft>
                <a:spcPts val="0"/>
              </a:spcAft>
              <a:buNone/>
            </a:pPr>
            <a:r>
              <a:rPr b="1" lang="en-GB" sz="700"/>
              <a:t>LPS:</a:t>
            </a:r>
            <a:r>
              <a:rPr lang="en-GB" sz="700"/>
              <a:t> “Large immune activation, fewer DEGs than ConA but still robust—second positive control behaves as expected.”</a:t>
            </a:r>
            <a:endParaRPr sz="700"/>
          </a:p>
        </p:txBody>
      </p:sp>
      <p:pic>
        <p:nvPicPr>
          <p:cNvPr id="246" name="Google Shape;246;p26"/>
          <p:cNvPicPr preferRelativeResize="0"/>
          <p:nvPr/>
        </p:nvPicPr>
        <p:blipFill>
          <a:blip r:embed="rId4">
            <a:alphaModFix/>
          </a:blip>
          <a:stretch>
            <a:fillRect/>
          </a:stretch>
        </p:blipFill>
        <p:spPr>
          <a:xfrm>
            <a:off x="727650" y="1262159"/>
            <a:ext cx="2066627" cy="1722512"/>
          </a:xfrm>
          <a:prstGeom prst="rect">
            <a:avLst/>
          </a:prstGeom>
          <a:noFill/>
          <a:ln>
            <a:noFill/>
          </a:ln>
        </p:spPr>
      </p:pic>
      <p:pic>
        <p:nvPicPr>
          <p:cNvPr id="247" name="Google Shape;247;p26"/>
          <p:cNvPicPr preferRelativeResize="0"/>
          <p:nvPr/>
        </p:nvPicPr>
        <p:blipFill>
          <a:blip r:embed="rId5">
            <a:alphaModFix/>
          </a:blip>
          <a:stretch>
            <a:fillRect/>
          </a:stretch>
        </p:blipFill>
        <p:spPr>
          <a:xfrm>
            <a:off x="727650" y="2968997"/>
            <a:ext cx="2066627" cy="1722474"/>
          </a:xfrm>
          <a:prstGeom prst="rect">
            <a:avLst/>
          </a:prstGeom>
          <a:noFill/>
          <a:ln>
            <a:noFill/>
          </a:ln>
        </p:spPr>
      </p:pic>
      <p:pic>
        <p:nvPicPr>
          <p:cNvPr id="248" name="Google Shape;248;p26"/>
          <p:cNvPicPr preferRelativeResize="0"/>
          <p:nvPr/>
        </p:nvPicPr>
        <p:blipFill>
          <a:blip r:embed="rId6">
            <a:alphaModFix/>
          </a:blip>
          <a:stretch>
            <a:fillRect/>
          </a:stretch>
        </p:blipFill>
        <p:spPr>
          <a:xfrm>
            <a:off x="6024805" y="635400"/>
            <a:ext cx="2681452" cy="2235001"/>
          </a:xfrm>
          <a:prstGeom prst="rect">
            <a:avLst/>
          </a:prstGeom>
          <a:noFill/>
          <a:ln>
            <a:noFill/>
          </a:ln>
        </p:spPr>
      </p:pic>
      <p:pic>
        <p:nvPicPr>
          <p:cNvPr id="249" name="Google Shape;249;p26"/>
          <p:cNvPicPr preferRelativeResize="0"/>
          <p:nvPr/>
        </p:nvPicPr>
        <p:blipFill>
          <a:blip r:embed="rId7">
            <a:alphaModFix/>
          </a:blip>
          <a:stretch>
            <a:fillRect/>
          </a:stretch>
        </p:blipFill>
        <p:spPr>
          <a:xfrm>
            <a:off x="3307081" y="1506625"/>
            <a:ext cx="2474225" cy="2062248"/>
          </a:xfrm>
          <a:prstGeom prst="rect">
            <a:avLst/>
          </a:prstGeom>
          <a:noFill/>
          <a:ln>
            <a:noFill/>
          </a:ln>
        </p:spPr>
      </p:pic>
      <p:sp>
        <p:nvSpPr>
          <p:cNvPr id="250" name="Google Shape;250;p26"/>
          <p:cNvSpPr txBox="1"/>
          <p:nvPr/>
        </p:nvSpPr>
        <p:spPr>
          <a:xfrm>
            <a:off x="3398930" y="3761521"/>
            <a:ext cx="22905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800"/>
              <a:t>Mo₂Ti₂C₃:</a:t>
            </a:r>
            <a:r>
              <a:rPr lang="en-GB" sz="800"/>
              <a:t> “Moderate number of DEGs with a slight tilt toward upregulation; effects are concentrated, not genome-wide.”</a:t>
            </a:r>
            <a:br>
              <a:rPr lang="en-GB" sz="800"/>
            </a:br>
            <a:endParaRPr sz="800"/>
          </a:p>
          <a:p>
            <a:pPr indent="0" lvl="0" marL="0" rtl="0" algn="l">
              <a:spcBef>
                <a:spcPts val="0"/>
              </a:spcBef>
              <a:spcAft>
                <a:spcPts val="0"/>
              </a:spcAft>
              <a:buNone/>
            </a:pPr>
            <a:r>
              <a:rPr b="1" lang="en-GB" sz="800"/>
              <a:t>Nb₄C₃:</a:t>
            </a:r>
            <a:r>
              <a:rPr lang="en-GB" sz="800"/>
              <a:t> “Similar scale to Mo₂Ti₂C₃, modest but clear signal.”</a:t>
            </a:r>
            <a:br>
              <a:rPr lang="en-GB" sz="800"/>
            </a:br>
            <a:endParaRPr sz="800"/>
          </a:p>
          <a:p>
            <a:pPr indent="0" lvl="0" marL="0" rtl="0" algn="l">
              <a:spcBef>
                <a:spcPts val="0"/>
              </a:spcBef>
              <a:spcAft>
                <a:spcPts val="0"/>
              </a:spcAft>
              <a:buNone/>
            </a:pPr>
            <a:r>
              <a:rPr b="1" lang="en-GB" sz="800"/>
              <a:t>Ta₄C₃:</a:t>
            </a:r>
            <a:r>
              <a:rPr lang="en-GB" sz="800"/>
              <a:t> “Largest MXene signal among the three, both up and down shifts—good candidate for downstream KE/AOP mapping.”</a:t>
            </a:r>
            <a:endParaRPr sz="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Functional Enrichment</a:t>
            </a:r>
            <a:endParaRPr/>
          </a:p>
          <a:p>
            <a:pPr indent="0" lvl="0" marL="0" rtl="0" algn="l">
              <a:spcBef>
                <a:spcPts val="0"/>
              </a:spcBef>
              <a:spcAft>
                <a:spcPts val="0"/>
              </a:spcAft>
              <a:buNone/>
            </a:pPr>
            <a:r>
              <a:rPr lang="en-GB"/>
              <a:t>(Literature DEGs + DE Analysis)</a:t>
            </a:r>
            <a:endParaRPr/>
          </a:p>
        </p:txBody>
      </p:sp>
      <p:sp>
        <p:nvSpPr>
          <p:cNvPr id="256" name="Google Shape;256;p2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lt1"/>
                </a:solidFill>
              </a:rPr>
              <a:t>‹#›</a:t>
            </a:fld>
            <a:endParaRPr>
              <a:solidFill>
                <a:schemeClr val="lt1"/>
              </a:solidFill>
            </a:endParaRPr>
          </a:p>
        </p:txBody>
      </p:sp>
      <p:sp>
        <p:nvSpPr>
          <p:cNvPr id="257" name="Google Shape;257;p27"/>
          <p:cNvSpPr txBox="1"/>
          <p:nvPr/>
        </p:nvSpPr>
        <p:spPr>
          <a:xfrm>
            <a:off x="703845" y="2899996"/>
            <a:ext cx="6551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lt1"/>
                </a:solidFill>
              </a:rPr>
              <a:t>All figures are available in drive in PNG and PDF formats that are more clear than the slides </a:t>
            </a:r>
            <a:r>
              <a:rPr lang="en-GB" u="sng">
                <a:solidFill>
                  <a:schemeClr val="hlink"/>
                </a:solidFill>
                <a:hlinkClick r:id="rId3"/>
              </a:rPr>
              <a:t>https://drive.google.com/drive/folders/1lP-2EUZKbQchOfedCiZ8OXBNPdcLbK_z?usp=sharing</a:t>
            </a:r>
            <a:r>
              <a:rPr lang="en-GB"/>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28"/>
          <p:cNvPicPr preferRelativeResize="0"/>
          <p:nvPr/>
        </p:nvPicPr>
        <p:blipFill>
          <a:blip r:embed="rId3">
            <a:alphaModFix/>
          </a:blip>
          <a:stretch>
            <a:fillRect/>
          </a:stretch>
        </p:blipFill>
        <p:spPr>
          <a:xfrm>
            <a:off x="2226452" y="0"/>
            <a:ext cx="6909624" cy="5143500"/>
          </a:xfrm>
          <a:prstGeom prst="rect">
            <a:avLst/>
          </a:prstGeom>
          <a:noFill/>
          <a:ln>
            <a:noFill/>
          </a:ln>
        </p:spPr>
      </p:pic>
      <p:sp>
        <p:nvSpPr>
          <p:cNvPr id="263" name="Google Shape;263;p28"/>
          <p:cNvSpPr txBox="1"/>
          <p:nvPr>
            <p:ph type="title"/>
          </p:nvPr>
        </p:nvSpPr>
        <p:spPr>
          <a:xfrm>
            <a:off x="197000" y="2171838"/>
            <a:ext cx="1872300" cy="1310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Top GO Biological Processes</a:t>
            </a:r>
            <a:endParaRPr/>
          </a:p>
        </p:txBody>
      </p:sp>
      <p:sp>
        <p:nvSpPr>
          <p:cNvPr id="264" name="Google Shape;264;p2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29"/>
          <p:cNvPicPr preferRelativeResize="0"/>
          <p:nvPr/>
        </p:nvPicPr>
        <p:blipFill>
          <a:blip r:embed="rId3">
            <a:alphaModFix/>
          </a:blip>
          <a:stretch>
            <a:fillRect/>
          </a:stretch>
        </p:blipFill>
        <p:spPr>
          <a:xfrm>
            <a:off x="2256298" y="0"/>
            <a:ext cx="6887701" cy="5143498"/>
          </a:xfrm>
          <a:prstGeom prst="rect">
            <a:avLst/>
          </a:prstGeom>
          <a:noFill/>
          <a:ln>
            <a:noFill/>
          </a:ln>
        </p:spPr>
      </p:pic>
      <p:sp>
        <p:nvSpPr>
          <p:cNvPr id="270" name="Google Shape;270;p29"/>
          <p:cNvSpPr txBox="1"/>
          <p:nvPr>
            <p:ph type="title"/>
          </p:nvPr>
        </p:nvSpPr>
        <p:spPr>
          <a:xfrm>
            <a:off x="197000" y="2171850"/>
            <a:ext cx="2035500" cy="1310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Top GO Cellular Components</a:t>
            </a:r>
            <a:endParaRPr/>
          </a:p>
        </p:txBody>
      </p:sp>
      <p:sp>
        <p:nvSpPr>
          <p:cNvPr id="271" name="Google Shape;271;p2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id="276" name="Google Shape;276;p30"/>
          <p:cNvPicPr preferRelativeResize="0"/>
          <p:nvPr/>
        </p:nvPicPr>
        <p:blipFill>
          <a:blip r:embed="rId3">
            <a:alphaModFix/>
          </a:blip>
          <a:stretch>
            <a:fillRect/>
          </a:stretch>
        </p:blipFill>
        <p:spPr>
          <a:xfrm>
            <a:off x="2339945" y="0"/>
            <a:ext cx="6804062" cy="5143501"/>
          </a:xfrm>
          <a:prstGeom prst="rect">
            <a:avLst/>
          </a:prstGeom>
          <a:noFill/>
          <a:ln>
            <a:noFill/>
          </a:ln>
        </p:spPr>
      </p:pic>
      <p:sp>
        <p:nvSpPr>
          <p:cNvPr id="277" name="Google Shape;277;p30"/>
          <p:cNvSpPr txBox="1"/>
          <p:nvPr>
            <p:ph type="title"/>
          </p:nvPr>
        </p:nvSpPr>
        <p:spPr>
          <a:xfrm>
            <a:off x="197000" y="2171850"/>
            <a:ext cx="2035500" cy="1310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Top GO Molecular</a:t>
            </a:r>
            <a:endParaRPr/>
          </a:p>
          <a:p>
            <a:pPr indent="0" lvl="0" marL="0" rtl="0" algn="l">
              <a:spcBef>
                <a:spcPts val="0"/>
              </a:spcBef>
              <a:spcAft>
                <a:spcPts val="0"/>
              </a:spcAft>
              <a:buNone/>
            </a:pPr>
            <a:r>
              <a:rPr lang="en-GB"/>
              <a:t>Functions</a:t>
            </a:r>
            <a:endParaRPr/>
          </a:p>
        </p:txBody>
      </p:sp>
      <p:sp>
        <p:nvSpPr>
          <p:cNvPr id="278" name="Google Shape;278;p3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31"/>
          <p:cNvPicPr preferRelativeResize="0"/>
          <p:nvPr/>
        </p:nvPicPr>
        <p:blipFill>
          <a:blip r:embed="rId3">
            <a:alphaModFix/>
          </a:blip>
          <a:stretch>
            <a:fillRect/>
          </a:stretch>
        </p:blipFill>
        <p:spPr>
          <a:xfrm>
            <a:off x="2384510" y="0"/>
            <a:ext cx="6759480" cy="5143500"/>
          </a:xfrm>
          <a:prstGeom prst="rect">
            <a:avLst/>
          </a:prstGeom>
          <a:noFill/>
          <a:ln>
            <a:noFill/>
          </a:ln>
        </p:spPr>
      </p:pic>
      <p:sp>
        <p:nvSpPr>
          <p:cNvPr id="284" name="Google Shape;284;p31"/>
          <p:cNvSpPr txBox="1"/>
          <p:nvPr>
            <p:ph type="title"/>
          </p:nvPr>
        </p:nvSpPr>
        <p:spPr>
          <a:xfrm>
            <a:off x="197000" y="2171850"/>
            <a:ext cx="2035500" cy="131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Top KEGG Pathways</a:t>
            </a:r>
            <a:endParaRPr/>
          </a:p>
        </p:txBody>
      </p:sp>
      <p:sp>
        <p:nvSpPr>
          <p:cNvPr id="285" name="Google Shape;285;p3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p32"/>
          <p:cNvPicPr preferRelativeResize="0"/>
          <p:nvPr/>
        </p:nvPicPr>
        <p:blipFill>
          <a:blip r:embed="rId3">
            <a:alphaModFix/>
          </a:blip>
          <a:stretch>
            <a:fillRect/>
          </a:stretch>
        </p:blipFill>
        <p:spPr>
          <a:xfrm>
            <a:off x="2329542" y="0"/>
            <a:ext cx="6814466" cy="5143501"/>
          </a:xfrm>
          <a:prstGeom prst="rect">
            <a:avLst/>
          </a:prstGeom>
          <a:noFill/>
          <a:ln>
            <a:noFill/>
          </a:ln>
        </p:spPr>
      </p:pic>
      <p:sp>
        <p:nvSpPr>
          <p:cNvPr id="291" name="Google Shape;291;p32"/>
          <p:cNvSpPr txBox="1"/>
          <p:nvPr>
            <p:ph type="title"/>
          </p:nvPr>
        </p:nvSpPr>
        <p:spPr>
          <a:xfrm>
            <a:off x="197000" y="2171850"/>
            <a:ext cx="2035500" cy="1310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Top Reactome Pathways</a:t>
            </a:r>
            <a:endParaRPr/>
          </a:p>
        </p:txBody>
      </p:sp>
      <p:sp>
        <p:nvSpPr>
          <p:cNvPr id="292" name="Google Shape;292;p3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AOP Fingerprinting</a:t>
            </a:r>
            <a:endParaRPr/>
          </a:p>
          <a:p>
            <a:pPr indent="0" lvl="0" marL="0" rtl="0" algn="l">
              <a:spcBef>
                <a:spcPts val="0"/>
              </a:spcBef>
              <a:spcAft>
                <a:spcPts val="0"/>
              </a:spcAft>
              <a:buNone/>
            </a:pPr>
            <a:r>
              <a:rPr lang="en-GB"/>
              <a:t>(Literature DEGs + DE Analysis)</a:t>
            </a:r>
            <a:endParaRPr/>
          </a:p>
        </p:txBody>
      </p:sp>
      <p:sp>
        <p:nvSpPr>
          <p:cNvPr id="298" name="Google Shape;298;p3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lt1"/>
                </a:solidFill>
              </a:rPr>
              <a:t>‹#›</a:t>
            </a:fld>
            <a:endParaRPr>
              <a:solidFill>
                <a:schemeClr val="lt1"/>
              </a:solidFill>
            </a:endParaRPr>
          </a:p>
        </p:txBody>
      </p:sp>
      <p:sp>
        <p:nvSpPr>
          <p:cNvPr id="299" name="Google Shape;299;p33"/>
          <p:cNvSpPr txBox="1"/>
          <p:nvPr/>
        </p:nvSpPr>
        <p:spPr>
          <a:xfrm>
            <a:off x="730640" y="3087565"/>
            <a:ext cx="6551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lt1"/>
                </a:solidFill>
              </a:rPr>
              <a:t>All figures are available in drive (under the AOP folder) in PNG and PDF formats that are more clear than the slides </a:t>
            </a:r>
            <a:r>
              <a:rPr lang="en-GB" u="sng">
                <a:solidFill>
                  <a:schemeClr val="hlink"/>
                </a:solidFill>
                <a:hlinkClick r:id="rId3"/>
              </a:rPr>
              <a:t>https://drive.google.com/drive/folders/1lP-2EUZKbQchOfedCiZ8OXBNPdcLbK_z?usp=sharing</a:t>
            </a:r>
            <a:r>
              <a:rPr lang="en-GB"/>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id="304" name="Google Shape;304;p34"/>
          <p:cNvPicPr preferRelativeResize="0"/>
          <p:nvPr/>
        </p:nvPicPr>
        <p:blipFill>
          <a:blip r:embed="rId3">
            <a:alphaModFix/>
          </a:blip>
          <a:stretch>
            <a:fillRect/>
          </a:stretch>
        </p:blipFill>
        <p:spPr>
          <a:xfrm>
            <a:off x="0" y="434075"/>
            <a:ext cx="9144002" cy="4709415"/>
          </a:xfrm>
          <a:prstGeom prst="rect">
            <a:avLst/>
          </a:prstGeom>
          <a:noFill/>
          <a:ln>
            <a:noFill/>
          </a:ln>
        </p:spPr>
      </p:pic>
      <p:sp>
        <p:nvSpPr>
          <p:cNvPr id="305" name="Google Shape;305;p3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p35"/>
          <p:cNvPicPr preferRelativeResize="0"/>
          <p:nvPr/>
        </p:nvPicPr>
        <p:blipFill>
          <a:blip r:embed="rId3">
            <a:alphaModFix/>
          </a:blip>
          <a:stretch>
            <a:fillRect/>
          </a:stretch>
        </p:blipFill>
        <p:spPr>
          <a:xfrm>
            <a:off x="0" y="499100"/>
            <a:ext cx="9144000" cy="4644349"/>
          </a:xfrm>
          <a:prstGeom prst="rect">
            <a:avLst/>
          </a:prstGeom>
          <a:noFill/>
          <a:ln>
            <a:noFill/>
          </a:ln>
        </p:spPr>
      </p:pic>
      <p:sp>
        <p:nvSpPr>
          <p:cNvPr id="311" name="Google Shape;311;p3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id="316" name="Google Shape;316;p36"/>
          <p:cNvPicPr preferRelativeResize="0"/>
          <p:nvPr/>
        </p:nvPicPr>
        <p:blipFill>
          <a:blip r:embed="rId3">
            <a:alphaModFix/>
          </a:blip>
          <a:stretch>
            <a:fillRect/>
          </a:stretch>
        </p:blipFill>
        <p:spPr>
          <a:xfrm>
            <a:off x="0" y="452550"/>
            <a:ext cx="9144001" cy="4690900"/>
          </a:xfrm>
          <a:prstGeom prst="rect">
            <a:avLst/>
          </a:prstGeom>
          <a:noFill/>
          <a:ln>
            <a:noFill/>
          </a:ln>
        </p:spPr>
      </p:pic>
      <p:sp>
        <p:nvSpPr>
          <p:cNvPr id="317" name="Google Shape;317;p3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23" name="Google Shape;323;p37"/>
          <p:cNvPicPr preferRelativeResize="0"/>
          <p:nvPr/>
        </p:nvPicPr>
        <p:blipFill>
          <a:blip r:embed="rId3">
            <a:alphaModFix/>
          </a:blip>
          <a:stretch>
            <a:fillRect/>
          </a:stretch>
        </p:blipFill>
        <p:spPr>
          <a:xfrm>
            <a:off x="441075" y="0"/>
            <a:ext cx="8261873" cy="5143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29" name="Google Shape;329;p38"/>
          <p:cNvPicPr preferRelativeResize="0"/>
          <p:nvPr/>
        </p:nvPicPr>
        <p:blipFill>
          <a:blip r:embed="rId3">
            <a:alphaModFix/>
          </a:blip>
          <a:stretch>
            <a:fillRect/>
          </a:stretch>
        </p:blipFill>
        <p:spPr>
          <a:xfrm>
            <a:off x="466815" y="0"/>
            <a:ext cx="8210371" cy="51434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35" name="Google Shape;335;p39"/>
          <p:cNvPicPr preferRelativeResize="0"/>
          <p:nvPr/>
        </p:nvPicPr>
        <p:blipFill>
          <a:blip r:embed="rId3">
            <a:alphaModFix/>
          </a:blip>
          <a:stretch>
            <a:fillRect/>
          </a:stretch>
        </p:blipFill>
        <p:spPr>
          <a:xfrm>
            <a:off x="473200" y="0"/>
            <a:ext cx="8197586" cy="514349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AOP Network Visualization using AOPfingerprintR</a:t>
            </a:r>
            <a:endParaRPr/>
          </a:p>
        </p:txBody>
      </p:sp>
      <p:sp>
        <p:nvSpPr>
          <p:cNvPr id="341" name="Google Shape;341;p4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lt1"/>
                </a:solidFill>
              </a:rPr>
              <a:t>‹#›</a:t>
            </a:fld>
            <a:endParaRPr>
              <a:solidFill>
                <a:schemeClr val="lt1"/>
              </a:solidFill>
            </a:endParaRPr>
          </a:p>
        </p:txBody>
      </p:sp>
      <p:sp>
        <p:nvSpPr>
          <p:cNvPr id="342" name="Google Shape;342;p40"/>
          <p:cNvSpPr txBox="1"/>
          <p:nvPr/>
        </p:nvSpPr>
        <p:spPr>
          <a:xfrm>
            <a:off x="730650" y="3087575"/>
            <a:ext cx="7805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lt1"/>
                </a:solidFill>
              </a:rPr>
              <a:t>All networks are available in drive (under the “AOP_Networks” folder) in interactive </a:t>
            </a:r>
            <a:r>
              <a:rPr b="1" lang="en-GB">
                <a:solidFill>
                  <a:schemeClr val="lt1"/>
                </a:solidFill>
              </a:rPr>
              <a:t>html </a:t>
            </a:r>
            <a:r>
              <a:rPr lang="en-GB">
                <a:solidFill>
                  <a:schemeClr val="lt1"/>
                </a:solidFill>
              </a:rPr>
              <a:t>format</a:t>
            </a:r>
            <a:r>
              <a:rPr lang="en-GB">
                <a:solidFill>
                  <a:schemeClr val="lt1"/>
                </a:solidFill>
              </a:rPr>
              <a:t>. </a:t>
            </a:r>
            <a:r>
              <a:rPr lang="en-GB" u="sng">
                <a:solidFill>
                  <a:schemeClr val="hlink"/>
                </a:solidFill>
                <a:hlinkClick r:id="rId3"/>
              </a:rPr>
              <a:t>https://drive.google.com/drive/folders/17F5_6xlBZv_axkV2aZFK5kzJGFKg632P?usp=sharing</a:t>
            </a:r>
            <a:r>
              <a:rPr lang="en-GB">
                <a:solidFill>
                  <a:schemeClr val="lt1"/>
                </a:solidFill>
              </a:rPr>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48" name="Google Shape;348;p41"/>
          <p:cNvPicPr preferRelativeResize="0"/>
          <p:nvPr/>
        </p:nvPicPr>
        <p:blipFill>
          <a:blip r:embed="rId3">
            <a:alphaModFix/>
          </a:blip>
          <a:stretch>
            <a:fillRect/>
          </a:stretch>
        </p:blipFill>
        <p:spPr>
          <a:xfrm>
            <a:off x="0" y="484262"/>
            <a:ext cx="9144003" cy="469253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id="353" name="Google Shape;353;p42"/>
          <p:cNvPicPr preferRelativeResize="0"/>
          <p:nvPr/>
        </p:nvPicPr>
        <p:blipFill>
          <a:blip r:embed="rId3">
            <a:alphaModFix/>
          </a:blip>
          <a:stretch>
            <a:fillRect/>
          </a:stretch>
        </p:blipFill>
        <p:spPr>
          <a:xfrm>
            <a:off x="5554053" y="493150"/>
            <a:ext cx="3589945" cy="4650348"/>
          </a:xfrm>
          <a:prstGeom prst="rect">
            <a:avLst/>
          </a:prstGeom>
          <a:noFill/>
          <a:ln>
            <a:noFill/>
          </a:ln>
        </p:spPr>
      </p:pic>
      <p:sp>
        <p:nvSpPr>
          <p:cNvPr id="354" name="Google Shape;354;p42"/>
          <p:cNvSpPr txBox="1"/>
          <p:nvPr>
            <p:ph type="title"/>
          </p:nvPr>
        </p:nvSpPr>
        <p:spPr>
          <a:xfrm>
            <a:off x="729450" y="1318650"/>
            <a:ext cx="4979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55" name="Google Shape;355;p4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61" name="Google Shape;361;p43"/>
          <p:cNvSpPr txBox="1"/>
          <p:nvPr>
            <p:ph type="title"/>
          </p:nvPr>
        </p:nvSpPr>
        <p:spPr>
          <a:xfrm>
            <a:off x="729450" y="662033"/>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References</a:t>
            </a:r>
            <a:endParaRPr/>
          </a:p>
        </p:txBody>
      </p:sp>
      <p:sp>
        <p:nvSpPr>
          <p:cNvPr id="362" name="Google Shape;362;p43"/>
          <p:cNvSpPr txBox="1"/>
          <p:nvPr>
            <p:ph idx="1" type="body"/>
          </p:nvPr>
        </p:nvSpPr>
        <p:spPr>
          <a:xfrm>
            <a:off x="729450" y="1462600"/>
            <a:ext cx="7688700" cy="3349500"/>
          </a:xfrm>
          <a:prstGeom prst="rect">
            <a:avLst/>
          </a:prstGeom>
        </p:spPr>
        <p:txBody>
          <a:bodyPr anchorCtr="0" anchor="ctr" bIns="91425" lIns="91425" spcFirstLastPara="1" rIns="91425" wrap="square" tIns="91425">
            <a:normAutofit/>
          </a:bodyPr>
          <a:lstStyle/>
          <a:p>
            <a:pPr indent="-311150" lvl="0" marL="457200" rtl="0" algn="l">
              <a:spcBef>
                <a:spcPts val="1200"/>
              </a:spcBef>
              <a:spcAft>
                <a:spcPts val="0"/>
              </a:spcAft>
              <a:buSzPts val="1300"/>
              <a:buChar char="●"/>
            </a:pPr>
            <a:r>
              <a:rPr lang="en-GB" sz="1100">
                <a:solidFill>
                  <a:srgbClr val="000000"/>
                </a:solidFill>
                <a:latin typeface="Arial"/>
                <a:ea typeface="Arial"/>
                <a:cs typeface="Arial"/>
                <a:sym typeface="Arial"/>
              </a:rPr>
              <a:t>Gogotsi, Y., &amp; Huang, Q. (2021). MXenes: Two-dimensional building blocks for future materials and devices. </a:t>
            </a:r>
            <a:r>
              <a:rPr i="1" lang="en-GB" sz="1100">
                <a:solidFill>
                  <a:srgbClr val="000000"/>
                </a:solidFill>
                <a:latin typeface="Arial"/>
                <a:ea typeface="Arial"/>
                <a:cs typeface="Arial"/>
                <a:sym typeface="Arial"/>
              </a:rPr>
              <a:t>ACS Nano, 15</a:t>
            </a:r>
            <a:r>
              <a:rPr lang="en-GB" sz="1100">
                <a:solidFill>
                  <a:srgbClr val="000000"/>
                </a:solidFill>
                <a:latin typeface="Arial"/>
                <a:ea typeface="Arial"/>
                <a:cs typeface="Arial"/>
                <a:sym typeface="Arial"/>
              </a:rPr>
              <a:t>(4), 5775–5780. </a:t>
            </a:r>
            <a:r>
              <a:rPr lang="en-GB" sz="1100" u="sng">
                <a:solidFill>
                  <a:schemeClr val="accent5"/>
                </a:solidFill>
                <a:latin typeface="Arial"/>
                <a:ea typeface="Arial"/>
                <a:cs typeface="Arial"/>
                <a:sym typeface="Arial"/>
                <a:hlinkClick r:id="rId3">
                  <a:extLst>
                    <a:ext uri="{A12FA001-AC4F-418D-AE19-62706E023703}">
                      <ahyp:hlinkClr val="tx"/>
                    </a:ext>
                  </a:extLst>
                </a:hlinkClick>
              </a:rPr>
              <a:t>https://doi.org/10.1021/acsnano.1c03161</a:t>
            </a:r>
            <a:r>
              <a:rPr lang="en-GB"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Love MI, Huber W, Anders S. DESeq2. Genome Biol (2014) doi:10.1186/s13059-014-0550-8</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The Gene Ontology Consortium. Gene Ontology resource. Nat Genet (2021) doi:10.1038/s41588-021-00931-5.</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Kanehisa M, Goto S. KEGG. Nucleic Acids Res (2000); updates e.g. 2019/2021 NAR.</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Jassal B, et al. Reactome. Nucleic Acids Res (2020).</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Gu Z, Eils R, Schlesner M. ComplexHeatmap. Bioinformatics (2016) 32:2847–2849.</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Gu Z. circlize. Bioinformatics (2014).</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Kolde R. pheatmap (R package), if you used it anywhere.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Andrews, S. FastQC: A Quality Control Tool for High Throughput Sequence Data. Babraham Bioinformatics, Babraham Institute; version 0.12.1. Available at: </a:t>
            </a:r>
            <a:r>
              <a:rPr lang="en-GB" sz="1100" u="sng">
                <a:solidFill>
                  <a:schemeClr val="hlink"/>
                </a:solidFill>
                <a:latin typeface="Arial"/>
                <a:ea typeface="Arial"/>
                <a:cs typeface="Arial"/>
                <a:sym typeface="Arial"/>
                <a:hlinkClick r:id="rId4"/>
              </a:rPr>
              <a:t>https://www.bioinformatics.babraham.ac.uk/projects/fastqc/</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Ewels, P. A., Magnusson, M., Lundin, S., &amp; Käller, M. MultiQC: Summarize analysis results for multiple tools and samples in a single report. Bioinformatics 32(19): 3047–3048 (2016).</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MultiQC software; version 1.16. Available at: </a:t>
            </a:r>
            <a:r>
              <a:rPr lang="en-GB" sz="1100" u="sng">
                <a:solidFill>
                  <a:schemeClr val="hlink"/>
                </a:solidFill>
                <a:latin typeface="Arial"/>
                <a:ea typeface="Arial"/>
                <a:cs typeface="Arial"/>
                <a:sym typeface="Arial"/>
                <a:hlinkClick r:id="rId5"/>
              </a:rPr>
              <a:t>https://multiqc.info</a:t>
            </a:r>
            <a:r>
              <a:rPr lang="en-GB" sz="1100">
                <a:solidFill>
                  <a:srgbClr val="000000"/>
                </a:solidFill>
                <a:latin typeface="Arial"/>
                <a:ea typeface="Arial"/>
                <a:cs typeface="Arial"/>
                <a:sym typeface="Arial"/>
              </a:rPr>
              <a:t> (accessed 28 Sep 2025).</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All used software versions and details for the performed analysis are available in Drive.</a:t>
            </a:r>
            <a:endParaRPr sz="1100">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66" name="Shape 366"/>
        <p:cNvGrpSpPr/>
        <p:nvPr/>
      </p:nvGrpSpPr>
      <p:grpSpPr>
        <a:xfrm>
          <a:off x="0" y="0"/>
          <a:ext cx="0" cy="0"/>
          <a:chOff x="0" y="0"/>
          <a:chExt cx="0" cy="0"/>
        </a:xfrm>
      </p:grpSpPr>
      <p:sp>
        <p:nvSpPr>
          <p:cNvPr id="367" name="Google Shape;367;p44"/>
          <p:cNvSpPr txBox="1"/>
          <p:nvPr>
            <p:ph type="title"/>
          </p:nvPr>
        </p:nvSpPr>
        <p:spPr>
          <a:xfrm>
            <a:off x="2707200" y="996825"/>
            <a:ext cx="3729600" cy="781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GB" sz="4020">
                <a:solidFill>
                  <a:srgbClr val="000000"/>
                </a:solidFill>
                <a:latin typeface="Montserrat"/>
                <a:ea typeface="Montserrat"/>
                <a:cs typeface="Montserrat"/>
                <a:sym typeface="Montserrat"/>
              </a:rPr>
              <a:t>Thank you!</a:t>
            </a:r>
            <a:endParaRPr b="1" sz="4020">
              <a:solidFill>
                <a:srgbClr val="000000"/>
              </a:solidFill>
              <a:latin typeface="Montserrat"/>
              <a:ea typeface="Montserrat"/>
              <a:cs typeface="Montserrat"/>
              <a:sym typeface="Montserrat"/>
            </a:endParaRPr>
          </a:p>
        </p:txBody>
      </p:sp>
      <p:sp>
        <p:nvSpPr>
          <p:cNvPr id="368" name="Google Shape;368;p44"/>
          <p:cNvSpPr/>
          <p:nvPr/>
        </p:nvSpPr>
        <p:spPr>
          <a:xfrm>
            <a:off x="0" y="2571750"/>
            <a:ext cx="9158400" cy="2571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
        <p:nvSpPr>
          <p:cNvPr id="369" name="Google Shape;369;p44"/>
          <p:cNvSpPr txBox="1"/>
          <p:nvPr/>
        </p:nvSpPr>
        <p:spPr>
          <a:xfrm>
            <a:off x="3659300" y="3214325"/>
            <a:ext cx="2124300" cy="3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u="sng">
                <a:solidFill>
                  <a:schemeClr val="lt1"/>
                </a:solidFill>
                <a:latin typeface="Calibri"/>
                <a:ea typeface="Calibri"/>
                <a:cs typeface="Calibri"/>
                <a:sym typeface="Calibri"/>
                <a:hlinkClick r:id="rId3">
                  <a:extLst>
                    <a:ext uri="{A12FA001-AC4F-418D-AE19-62706E023703}">
                      <ahyp:hlinkClr val="tx"/>
                    </a:ext>
                  </a:extLst>
                </a:hlinkClick>
              </a:rPr>
              <a:t>asmaa@edelweissconnect.com</a:t>
            </a:r>
            <a:r>
              <a:rPr lang="en-GB" sz="1100">
                <a:solidFill>
                  <a:schemeClr val="lt1"/>
                </a:solidFill>
                <a:latin typeface="Calibri"/>
                <a:ea typeface="Calibri"/>
                <a:cs typeface="Calibri"/>
                <a:sym typeface="Calibri"/>
              </a:rPr>
              <a:t> </a:t>
            </a:r>
            <a:endParaRPr sz="1300">
              <a:solidFill>
                <a:schemeClr val="lt1"/>
              </a:solidFill>
            </a:endParaRPr>
          </a:p>
        </p:txBody>
      </p:sp>
      <p:sp>
        <p:nvSpPr>
          <p:cNvPr id="370" name="Google Shape;370;p44"/>
          <p:cNvSpPr txBox="1"/>
          <p:nvPr/>
        </p:nvSpPr>
        <p:spPr>
          <a:xfrm>
            <a:off x="3659300" y="3671600"/>
            <a:ext cx="2124300" cy="3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u="sng">
                <a:solidFill>
                  <a:schemeClr val="lt1"/>
                </a:solidFill>
                <a:latin typeface="Calibri"/>
                <a:ea typeface="Calibri"/>
                <a:cs typeface="Calibri"/>
                <a:sym typeface="Calibri"/>
                <a:hlinkClick r:id="rId4">
                  <a:extLst>
                    <a:ext uri="{A12FA001-AC4F-418D-AE19-62706E023703}">
                      <ahyp:hlinkClr val="tx"/>
                    </a:ext>
                  </a:extLst>
                </a:hlinkClick>
              </a:rPr>
              <a:t>asmaa-a-abdelwahab</a:t>
            </a:r>
            <a:endParaRPr sz="1300">
              <a:solidFill>
                <a:schemeClr val="lt1"/>
              </a:solidFill>
            </a:endParaRPr>
          </a:p>
        </p:txBody>
      </p:sp>
      <p:pic>
        <p:nvPicPr>
          <p:cNvPr id="371" name="Google Shape;371;p44"/>
          <p:cNvPicPr preferRelativeResize="0"/>
          <p:nvPr/>
        </p:nvPicPr>
        <p:blipFill>
          <a:blip r:embed="rId5">
            <a:alphaModFix/>
          </a:blip>
          <a:stretch>
            <a:fillRect/>
          </a:stretch>
        </p:blipFill>
        <p:spPr>
          <a:xfrm>
            <a:off x="3374801" y="3747801"/>
            <a:ext cx="284497" cy="293754"/>
          </a:xfrm>
          <a:prstGeom prst="rect">
            <a:avLst/>
          </a:prstGeom>
          <a:noFill/>
          <a:ln>
            <a:noFill/>
          </a:ln>
        </p:spPr>
      </p:pic>
      <p:pic>
        <p:nvPicPr>
          <p:cNvPr id="372" name="Google Shape;372;p44"/>
          <p:cNvPicPr preferRelativeResize="0"/>
          <p:nvPr/>
        </p:nvPicPr>
        <p:blipFill>
          <a:blip r:embed="rId6">
            <a:alphaModFix/>
          </a:blip>
          <a:stretch>
            <a:fillRect/>
          </a:stretch>
        </p:blipFill>
        <p:spPr>
          <a:xfrm>
            <a:off x="3374800" y="3290525"/>
            <a:ext cx="284497" cy="293756"/>
          </a:xfrm>
          <a:prstGeom prst="rect">
            <a:avLst/>
          </a:prstGeom>
          <a:solidFill>
            <a:srgbClr val="113362"/>
          </a:solidFill>
          <a:ln>
            <a:noFill/>
          </a:ln>
        </p:spPr>
      </p:pic>
      <p:sp>
        <p:nvSpPr>
          <p:cNvPr id="373" name="Google Shape;373;p44"/>
          <p:cNvSpPr txBox="1"/>
          <p:nvPr/>
        </p:nvSpPr>
        <p:spPr>
          <a:xfrm>
            <a:off x="3659300" y="4128875"/>
            <a:ext cx="2124300" cy="3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u="sng">
                <a:solidFill>
                  <a:schemeClr val="lt1"/>
                </a:solidFill>
                <a:latin typeface="Calibri"/>
                <a:ea typeface="Calibri"/>
                <a:cs typeface="Calibri"/>
                <a:sym typeface="Calibri"/>
                <a:hlinkClick r:id="rId7">
                  <a:extLst>
                    <a:ext uri="{A12FA001-AC4F-418D-AE19-62706E023703}">
                      <ahyp:hlinkClr val="tx"/>
                    </a:ext>
                  </a:extLst>
                </a:hlinkClick>
              </a:rPr>
              <a:t>asmaa-a-abdelwahab</a:t>
            </a:r>
            <a:endParaRPr sz="1300">
              <a:solidFill>
                <a:schemeClr val="lt1"/>
              </a:solidFill>
            </a:endParaRPr>
          </a:p>
        </p:txBody>
      </p:sp>
      <p:pic>
        <p:nvPicPr>
          <p:cNvPr id="374" name="Google Shape;374;p44"/>
          <p:cNvPicPr preferRelativeResize="0"/>
          <p:nvPr/>
        </p:nvPicPr>
        <p:blipFill rotWithShape="1">
          <a:blip r:embed="rId8">
            <a:alphaModFix/>
          </a:blip>
          <a:srcRect b="0" l="0" r="50377" t="0"/>
          <a:stretch/>
        </p:blipFill>
        <p:spPr>
          <a:xfrm>
            <a:off x="3374800" y="4205077"/>
            <a:ext cx="284496" cy="295998"/>
          </a:xfrm>
          <a:prstGeom prst="rect">
            <a:avLst/>
          </a:prstGeom>
          <a:noFill/>
          <a:ln>
            <a:noFill/>
          </a:ln>
        </p:spPr>
      </p:pic>
      <p:sp>
        <p:nvSpPr>
          <p:cNvPr id="375" name="Google Shape;375;p4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376" name="Google Shape;376;p44"/>
          <p:cNvSpPr/>
          <p:nvPr/>
        </p:nvSpPr>
        <p:spPr>
          <a:xfrm>
            <a:off x="495025" y="1067900"/>
            <a:ext cx="1961400" cy="476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